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7.xml" ContentType="application/vnd.openxmlformats-officedocument.theme+xml"/>
  <Override PartName="/ppt/slideLayouts/slideLayout47.xml" ContentType="application/vnd.openxmlformats-officedocument.presentationml.slideLayout+xml"/>
  <Override PartName="/ppt/theme/theme8.xml" ContentType="application/vnd.openxmlformats-officedocument.theme+xml"/>
  <Override PartName="/ppt/slideLayouts/slideLayout48.xml" ContentType="application/vnd.openxmlformats-officedocument.presentationml.slideLayout+xml"/>
  <Override PartName="/ppt/theme/theme9.xml" ContentType="application/vnd.openxmlformats-officedocument.theme+xml"/>
  <Override PartName="/ppt/slideLayouts/slideLayout49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94" r:id="rId2"/>
    <p:sldMasterId id="2147483670" r:id="rId3"/>
    <p:sldMasterId id="2147483682" r:id="rId4"/>
    <p:sldMasterId id="2147483650" r:id="rId5"/>
    <p:sldMasterId id="2147483652" r:id="rId6"/>
    <p:sldMasterId id="2147483653" r:id="rId7"/>
    <p:sldMasterId id="2147483664" r:id="rId8"/>
    <p:sldMasterId id="2147483666" r:id="rId9"/>
    <p:sldMasterId id="2147483668" r:id="rId10"/>
  </p:sldMasterIdLst>
  <p:notesMasterIdLst>
    <p:notesMasterId r:id="rId31"/>
  </p:notesMasterIdLst>
  <p:handoutMasterIdLst>
    <p:handoutMasterId r:id="rId32"/>
  </p:handoutMasterIdLst>
  <p:sldIdLst>
    <p:sldId id="256" r:id="rId11"/>
    <p:sldId id="267" r:id="rId12"/>
    <p:sldId id="259" r:id="rId13"/>
    <p:sldId id="279" r:id="rId14"/>
    <p:sldId id="280" r:id="rId15"/>
    <p:sldId id="281" r:id="rId16"/>
    <p:sldId id="276" r:id="rId17"/>
    <p:sldId id="275" r:id="rId18"/>
    <p:sldId id="270" r:id="rId19"/>
    <p:sldId id="273" r:id="rId20"/>
    <p:sldId id="274" r:id="rId21"/>
    <p:sldId id="271" r:id="rId22"/>
    <p:sldId id="278" r:id="rId23"/>
    <p:sldId id="272" r:id="rId24"/>
    <p:sldId id="277" r:id="rId25"/>
    <p:sldId id="261" r:id="rId26"/>
    <p:sldId id="268" r:id="rId27"/>
    <p:sldId id="262" r:id="rId28"/>
    <p:sldId id="269" r:id="rId29"/>
    <p:sldId id="266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Mm5AWPa4QUCDNpb/qbg0anxXL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844" autoAdjust="0"/>
  </p:normalViewPr>
  <p:slideViewPr>
    <p:cSldViewPr snapToGrid="0">
      <p:cViewPr>
        <p:scale>
          <a:sx n="50" d="100"/>
          <a:sy n="50" d="100"/>
        </p:scale>
        <p:origin x="1740" y="1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77F380-12AA-E4DB-A771-0AAB91A2D9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7875F-0885-DC61-8276-C053EB095F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C79D0-B238-430B-965C-AF37D2CE37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F990C-8DC8-8DC1-0B2C-341FFBA509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31D60-B4F1-35C9-60B7-B391586A3B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20EB-662B-4DF3-AA16-97A7ABDC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02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327110C-779F-22C9-91D0-E5449857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F083E24F-C579-A6AB-0C86-160A9B880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>
            <a:extLst>
              <a:ext uri="{FF2B5EF4-FFF2-40B4-BE49-F238E27FC236}">
                <a16:creationId xmlns:a16="http://schemas.microsoft.com/office/drawing/2014/main" id="{A9881749-67FE-7D38-1F72-48F09199C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0226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D519AD20-21BC-3853-B38F-4CEE3358A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435AC1F1-890A-61C3-BFBC-C9652328E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9D8BA214-E5EB-CBC5-3AF8-610C179E26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3562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4E88AD78-5DFD-AF13-E4FC-E1DCC1B8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FF302BEC-381E-C55B-9DED-452C27A89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38460C67-21A9-1C9D-599A-134CC17305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1671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52C25935-4EB8-A1E7-FBFD-20D826E7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9B5DF0A5-E567-7DE9-5978-5623116DD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FF736990-7635-BC9D-2BEC-B3BAF517A4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2510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8EAB4237-8545-BDCC-46E4-2604BDF1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0D5EBB65-91D3-7080-E55D-01AC80C5A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1BE6F800-998E-E72E-2DA0-DB6F5C23F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3281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9D9B714C-3B5F-0077-E2A5-338F732D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E3E0DFBF-558F-B144-94D5-CC955D98D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B05C359C-F61D-DF0B-D444-FBE959DB9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696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72682DBA-C495-B9E8-5598-957FB1E6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EE277E79-94B8-32B8-EA65-972D3166B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EBFF3B46-2B30-4BBD-B53E-260553156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7431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E2317B50-7736-2B94-C31F-5B7A17FCD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0B12954D-F14B-4415-37A9-E9F1F358EB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67C31F99-7A87-7F97-9F07-16BD8EE01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6138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003ED6AC-E3D7-5FFA-7B4D-FE79F97A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67D86B4D-CA5E-C273-0381-6E51475C3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FE329C58-B44B-68E5-1151-EEF2367A5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4920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509743CD-51A9-8814-CF36-BD0A022E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60728FA8-AAF2-9A80-445D-E7DA5D96F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79613A2A-87A0-1708-1E2E-3283F90B0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6232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6E766C10-5053-5AE0-F68E-E31C2AA16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16ED02E5-C469-4684-B3CB-4E90CF5C4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B2C204E3-E134-5C5D-8747-2A04AF90C2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003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A185A476-6D15-100C-C0E8-A96EEF0D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67704C3F-8277-7407-4AEB-8300BF23D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96F42C92-2108-3130-F0C0-E8DD486BF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4474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CCBF5E37-041A-E8B7-4485-99C8B38A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E9045852-7DBB-3408-628D-DE4399E43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>
            <a:extLst>
              <a:ext uri="{FF2B5EF4-FFF2-40B4-BE49-F238E27FC236}">
                <a16:creationId xmlns:a16="http://schemas.microsoft.com/office/drawing/2014/main" id="{EBCF838A-F761-09A0-1185-A48B7DEA2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3407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D6915492-740B-EAD7-66EC-D42014F4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>
            <a:extLst>
              <a:ext uri="{FF2B5EF4-FFF2-40B4-BE49-F238E27FC236}">
                <a16:creationId xmlns:a16="http://schemas.microsoft.com/office/drawing/2014/main" id="{7C155A11-1E5C-E954-8ED2-0AF98B3AC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Các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	Ở phase1: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recommend </a:t>
            </a:r>
            <a:r>
              <a:rPr lang="en-US" dirty="0" err="1"/>
              <a:t>dùng</a:t>
            </a:r>
            <a:r>
              <a:rPr lang="en-US" dirty="0"/>
              <a:t> single cycle hay pipelined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	Ở phase 2: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	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đổ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fpga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hay ASIC, hay simulate </a:t>
            </a:r>
            <a:r>
              <a:rPr lang="en-US" dirty="0" err="1"/>
              <a:t>ra</a:t>
            </a:r>
            <a:r>
              <a:rPr lang="en-US" dirty="0"/>
              <a:t> file hex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, </a:t>
            </a:r>
            <a:r>
              <a:rPr lang="en-US" dirty="0" err="1"/>
              <a:t>rồi</a:t>
            </a:r>
            <a:r>
              <a:rPr lang="en-US" dirty="0"/>
              <a:t> merge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	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build test plan </a:t>
            </a:r>
            <a:r>
              <a:rPr lang="en-US" dirty="0" err="1"/>
              <a:t>để</a:t>
            </a:r>
            <a:r>
              <a:rPr lang="en-US" dirty="0"/>
              <a:t> verify </a:t>
            </a:r>
            <a:r>
              <a:rPr lang="en-US" dirty="0" err="1"/>
              <a:t>không</a:t>
            </a:r>
            <a:r>
              <a:rPr lang="en-US" dirty="0"/>
              <a:t>, hay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functional testbench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	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	Ở phase 3: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	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verify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. Hay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verify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functional </a:t>
            </a:r>
            <a:r>
              <a:rPr lang="en-US" dirty="0" err="1"/>
              <a:t>của</a:t>
            </a:r>
            <a:r>
              <a:rPr lang="en-US" dirty="0"/>
              <a:t> ABP AHB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	</a:t>
            </a:r>
            <a:br>
              <a:rPr lang="en-US" dirty="0"/>
            </a:br>
            <a:r>
              <a:rPr lang="en-US" dirty="0" err="1"/>
              <a:t>Vậy</a:t>
            </a:r>
            <a:r>
              <a:rPr lang="en-US" dirty="0"/>
              <a:t> ở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50%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 </a:t>
            </a:r>
            <a:r>
              <a:rPr lang="en-US" dirty="0" err="1"/>
              <a:t>Và</a:t>
            </a:r>
            <a:r>
              <a:rPr lang="en-US" dirty="0"/>
              <a:t> ở FINAL </a:t>
            </a:r>
            <a:r>
              <a:rPr lang="en-US" dirty="0" err="1"/>
              <a:t>em</a:t>
            </a:r>
            <a:r>
              <a:rPr lang="en-US" dirty="0"/>
              <a:t> synthesis </a:t>
            </a:r>
            <a:r>
              <a:rPr lang="en-US" dirty="0" err="1"/>
              <a:t>bằng</a:t>
            </a:r>
            <a:r>
              <a:rPr lang="en-US" dirty="0"/>
              <a:t> EDA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hay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đổ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FPGA?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	</a:t>
            </a:r>
            <a:endParaRPr dirty="0"/>
          </a:p>
        </p:txBody>
      </p:sp>
      <p:sp>
        <p:nvSpPr>
          <p:cNvPr id="198" name="Google Shape;198;p5:notes">
            <a:extLst>
              <a:ext uri="{FF2B5EF4-FFF2-40B4-BE49-F238E27FC236}">
                <a16:creationId xmlns:a16="http://schemas.microsoft.com/office/drawing/2014/main" id="{EE231066-D505-8CA4-50F4-A04582858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0784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br>
              <a:rPr lang="en-US" dirty="0"/>
            </a:b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đâu</a:t>
            </a:r>
            <a:r>
              <a:rPr lang="en-US" dirty="0"/>
              <a:t>, Bao </a:t>
            </a:r>
            <a:r>
              <a:rPr lang="en-US" dirty="0" err="1"/>
              <a:t>nhiêu</a:t>
            </a:r>
            <a:r>
              <a:rPr lang="en-US" dirty="0"/>
              <a:t> pixel (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512 x 512)</a:t>
            </a:r>
            <a:endParaRPr dirty="0"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72700977-A278-6813-7B67-03B528FA9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>
            <a:extLst>
              <a:ext uri="{FF2B5EF4-FFF2-40B4-BE49-F238E27FC236}">
                <a16:creationId xmlns:a16="http://schemas.microsoft.com/office/drawing/2014/main" id="{C70F0012-9BFA-B861-EAEC-3C885BD8A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6:notes">
            <a:extLst>
              <a:ext uri="{FF2B5EF4-FFF2-40B4-BE49-F238E27FC236}">
                <a16:creationId xmlns:a16="http://schemas.microsoft.com/office/drawing/2014/main" id="{E897566A-CFB1-6DCE-F1F1-85B6C9B1D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28797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userDrawn="1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13CF-2C29-1FC6-EFB8-25A363D7D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A4483-ECE6-D0A3-6ED1-BB7B52846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B494A-7136-3FC9-568B-603570EDD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3F69-3C49-8F58-7CB3-FEAF6731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1DEA4-098D-36DA-3918-7E7BD1D6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9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D188-C756-5D4F-1DB8-6817ADF2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AC74-1586-FE7D-67BD-9433B3F21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DECA7-6F8A-5E34-0793-749C9963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BB072-A5FC-D009-0534-A88AD688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DD54A-B9E6-A8CA-4D48-F53CC826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84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7A9F-9483-2327-6B92-D67C4B1E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4C029-D91C-6FD0-FD3E-724A95380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CAA9C-EE25-4A40-4929-3A2137C4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08768-FDB6-4BD9-0EDF-E8D09CBC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A775F-FBB1-60BC-28FF-3C39970A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5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6954-7AEB-B91E-0774-E5923AB1A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C64BF-43CE-EDF3-5584-3E65DABAC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89A43-9EB3-52A3-FD96-FBDE63879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3D12B-82E3-66F1-6351-72608A57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1F5C9-F511-A4A4-A272-667F85CA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7D048-505E-B187-6E3D-043CEAFB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2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7AC8-066D-4589-5D7D-8A9C1750E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CDAA7-62CF-1782-F161-0F754141A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A034F-9076-DA44-4E56-826EEFEEE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8028E-01FC-A274-846E-4CC31F92F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2ABCA-A564-BB20-1399-141AB4EFA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FA6E4-A473-29B1-FB33-6AB19779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F4180-D854-C12B-3597-C0E9288B8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1050CC-82E8-3434-DBBE-68E040D4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2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7088-4338-8BAD-BDD7-90A47548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7BB3B-D3DE-B606-9F2A-2BCBAAD40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5D9D4-1099-FA69-1562-C098361A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F292A-96DA-299A-0252-B4916673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62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003A5-F05D-B962-E903-D36125657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FDEB7E-020F-6505-F5CA-D27A8D58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BA388-699A-507D-51F2-855CA37F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12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A94A-3963-DC3F-6121-97F2C002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DCED-B160-C5FB-F0ED-A679100E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C4B5D-ED44-AA9D-091E-B5082FEA9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3C99F-7DCE-7FAD-BBFF-8B4FA6E7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CB686-7CE7-605A-BC3C-77F1E566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E7F4F-B8B8-778A-A77B-D3BC4E76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4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CCB5-7370-F446-12BF-0B3C0473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4B2D0-A576-528E-BE55-DC9AB89D4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D3FAE-C409-6350-8D52-ED8CB054D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3D3B9-F08C-2F80-DC0D-6079FCBF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0B7E9-193B-29A7-8EE9-29F1F392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C3B8A-5262-6545-640A-6F0CBB6E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51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DE76-9614-D9E1-B010-911DA6E4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D536F-91C3-9686-6804-F3BF28067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85FCA-E6C2-5C3D-C4F1-2A2A76CB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F10A0-5E33-752E-981B-F8DC6C69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BA8E-7140-D3D3-DAE8-EBF9CB71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49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A1DA8-7A50-7F88-5DE2-E75EAE186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2819F-5E33-031C-EC63-A21F491B7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96412-B278-5BF5-F664-A67F9A9C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58D98-32D8-48BA-42E6-81D83745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0067B-C067-4789-DC28-DE50587A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19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4B6C-0DED-82E7-DAAB-D2EA0319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90618-E52C-6E07-DAA5-050DC9D7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24D61-D2DC-DACD-365D-A17974A2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6CD1A-75CA-A9EB-729C-5C705545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86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95D0-4F19-EAF2-6193-71EAF938B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0ACFE-5592-4FBD-8BF2-DDC1AAF9B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8117B-8633-C259-7F7D-CCD19D1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44995-D508-5C62-9ED4-5A8904DA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E19C2-EE6B-60A8-8FCA-ABEACAB9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53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8CEB7-3E13-6681-EEA1-A383F630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42DF0-6ED5-E866-478E-E748DA135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39B0-A3F1-3968-8AB5-72E08FEF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7688-DCF4-A3F3-FECC-28295162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3A822-E912-C241-9B8D-C3407EC2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90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799A-7FCE-58EB-425B-4EB7EC43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C4395-4BF4-FC85-7153-C5A3EDE9D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E121-B255-8774-441F-655773C2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66E82-8664-CAEB-66EB-0A8159D8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3754-9B5C-DEB2-4426-7CE95CB3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66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9EE2-6CF9-9E64-AE29-E4714B7C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BA9B-09D6-4162-0795-8A679B9CB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0CD2D-C8ED-E0CD-6230-98796E317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A9D1B-A89B-1971-18E4-84D31AD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8E472-6EEE-39EA-1F8C-01C020C6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9056C-7C29-16E0-73FB-E9534568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243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58CB-F3C2-700F-FB6E-971AA3742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03586-FCF5-7FCE-3718-3FFF8007F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B0D01-1D7D-D5E3-70E4-D3D8CE934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5F093A-EF3D-AC99-745F-B6B06A6D5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DBB68-6D02-FF65-5703-3F2DDDEA5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A606E-EBF1-765A-B32F-C6793235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644EC-6FA2-AC0A-C1F1-3FB05441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D7C4B2-96D6-BD03-2F55-E4A06AE0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61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23FC0-1350-7359-E95F-1AE8EF5E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5E0180-5512-2D0B-E870-DBBCD96F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69BD4-DEA8-27FC-4EDE-DC170492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479C4-5DF6-BED9-F073-5E1E350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701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F9CABE-A46F-87A8-C7DE-574E02F8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AA73D-36F5-C917-05BB-BDED26FE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645C6-16D3-C247-B4B1-FDE934B9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060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DDC2-1AEE-8BB1-43C1-7C5934B6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79CF-0027-E577-9018-66376F863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307CF-19CE-2136-DDD8-6AE08FD24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E1742-6FAA-AFF5-C429-7616F963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53CC1-7E9B-247C-0920-1A6B4DCB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5DE59-476B-0385-C6D0-688BD1AE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722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1249-A17B-7DC6-860E-36C79D99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CFDEA-CCA8-6435-042A-99978F81E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9F8FF-83C7-03AC-C4C7-DE64242AA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10B9C-24BB-C29B-76E4-658088E0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865E7-4127-5024-3FCA-627D5151F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E55F9-0F46-5C5C-8CFB-F0EA8E19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3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F4C3-C930-25E4-8FFC-D53906CE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04079-6356-9DF2-5DD5-F0766BEC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EEB15-1BD3-CA23-7DE2-2DE5C286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82526-727E-C308-72FD-8CC67E0A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ED0D2-4186-4DD8-1342-3FC9D9B5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1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B2EAB6-B925-F111-1453-5F61D9550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EB93-DA6A-D73D-B71B-128819B1E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BA4FC-A03A-5A6E-ECD6-B32250F4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B40B-2C17-8E5B-E75F-1BFC41C5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7DB62-C7D7-5B66-DDE7-B80AA07E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458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11A2-2C57-FA03-7589-50F3F8FA3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FFAA2-ECD0-933A-8411-39D339A88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FA0E6-7F10-8A01-6B37-E36741A5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90DC7-42A5-9B5D-77C5-453341D8F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A4F5-8BA0-1AE9-607F-7A01D7E8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561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36A0C-B2A8-2373-0465-DAAE754E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384F-7483-2E9D-9B0A-7B4A15EFB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543CC-973F-3647-18F2-4EF05574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7705-E9FC-3281-E161-DF3266F6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DF4FE-1059-7C6B-319E-64E11820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768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AE79-9789-352C-1961-F8D13371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F3D91-4235-50CA-9188-9AE00F11D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3F480-EBBC-537B-694F-9EECA4FE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1E087-B0EB-64A6-EA1D-C3DED280E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9DFD0-71A4-7976-1E0D-87D80039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170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1CE5-0D84-B85C-0C22-FD425D9B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61AF-A8F2-2C54-5A46-67C8AA03C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7E77E-73F2-D09D-C463-68192FB9B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F4DC2-1129-FD64-6EA8-37B76616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62061-E9BD-220B-D93C-E9F5AC63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5D311-7A2E-AEF9-FF23-BBF10004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766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923E-9A07-7EDE-67AE-7EBFB984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5A04F-1E4D-1637-116E-92D97A360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BABF3-F9B8-BB6D-AFA3-76577B009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F6E96-60BC-E133-A07B-B7F339EDA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A0D42-D60A-8F9A-4100-C9D63F5CC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D2087-2126-019C-5014-7B182472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BBA41-6598-79B2-B87C-25D5A880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0EA60-0FB0-0B2B-6D79-30292A776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2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377A-33CD-BE30-9D9F-C3C09F5E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2F0F8-4630-7BC2-059B-BD568AFF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F8C9-8E65-74D2-FD49-D689FE5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8A7B1-7F9D-7351-C442-187AF217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077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B1F80-5832-09BD-5A1A-12C31B17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CE7A5-A30A-0E8A-92EF-504217BF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B85B4-583A-1D87-34B2-7D9CE8BFD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60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9E15-2D7F-ABBE-4931-F2140155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BAC1E-676F-4151-4753-B92AA2470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3184B-86FD-BCDD-1F4A-F56764C78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DF210-5D58-B8F8-DAE2-99A6C62B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77535-2D06-58D1-CB93-954CA587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26314-41D3-0BB4-946A-2E5EC81F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16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6E50-7C23-C03C-08D6-6FBE9CB0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157D2-5FC2-C9E5-87CD-1802DCF9F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2D66A-9352-F553-DE38-8F9D043F3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20B04-66D3-FA20-5E89-2697957D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3E649-197C-5587-8A5E-D6F1FB74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B0186-72CF-9063-409C-6C87C89B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54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1CAB-C3EF-D93E-F752-643A962C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4DA5C-8322-581E-21B3-2E998F045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7F899-D408-DD92-F099-9E419067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D858E-D25A-0156-E451-9271AA83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067C-A443-EB53-A168-ACF0531C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790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43323-4771-482E-AB65-805A35ADC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D821E-C840-A74E-E5C4-80B99C2C7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5F741-172A-A6B9-7065-FFB011FC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3A3A5-897F-4436-0E45-5DD25558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FE3EC-9C89-9E3D-6D0A-6A71688F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70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685800" y="274638"/>
            <a:ext cx="80010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685800" y="990600"/>
            <a:ext cx="8001000" cy="51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381000" y="2667000"/>
            <a:ext cx="84012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body" idx="1"/>
          </p:nvPr>
        </p:nvSpPr>
        <p:spPr>
          <a:xfrm>
            <a:off x="0" y="990600"/>
            <a:ext cx="8437500" cy="4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694267" y="4860912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 txBox="1"/>
          <p:nvPr/>
        </p:nvSpPr>
        <p:spPr>
          <a:xfrm>
            <a:off x="-92075" y="220662"/>
            <a:ext cx="9326700" cy="14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ĐẠI HỌC QUỐC GIA TP.HỒ CHÍ MINH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TRƯỜNG ĐẠI HỌC BÁCH KHOA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KHOA ĐIỆN-ĐIỆN TỬ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BỘ MÔN KỸ THUẬT ĐIỆN TỬ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 txBox="1"/>
          <p:nvPr/>
        </p:nvSpPr>
        <p:spPr>
          <a:xfrm>
            <a:off x="5791200" y="3859093"/>
            <a:ext cx="289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 txBox="1"/>
          <p:nvPr/>
        </p:nvSpPr>
        <p:spPr>
          <a:xfrm>
            <a:off x="5156200" y="6514634"/>
            <a:ext cx="66294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</a:t>
            </a:r>
            <a:r>
              <a:rPr lang="en-US" sz="1400" b="1" i="0" u="none" strike="noStrike" cap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Chí Minh </a:t>
            </a:r>
            <a:r>
              <a:rPr lang="en-US" sz="1400" b="1" i="0" u="none" strike="noStrike" cap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ngày</a:t>
            </a:r>
            <a:r>
              <a:rPr lang="en-US" sz="1400" b="1" i="0" u="none" strike="noStrike" cap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30 </a:t>
            </a:r>
            <a:r>
              <a:rPr lang="en-US" sz="1400" b="1" i="0" u="none" strike="noStrike" cap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tháng</a:t>
            </a:r>
            <a:r>
              <a:rPr lang="en-US" sz="1400" b="1" i="0" u="none" strike="noStrike" cap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r>
              <a:rPr lang="en-US" sz="1400" b="1" i="0" u="none" strike="noStrike" cap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năm</a:t>
            </a:r>
            <a:r>
              <a:rPr lang="en-US" sz="1400" b="1" i="0" u="none" strike="noStrike" cap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1"/>
          <p:cNvSpPr txBox="1"/>
          <p:nvPr/>
        </p:nvSpPr>
        <p:spPr>
          <a:xfrm>
            <a:off x="0" y="2438400"/>
            <a:ext cx="914400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LUẬN VĂN TỐT NGHIỆP</a:t>
            </a:r>
            <a:endParaRPr sz="2000" b="1" i="0" u="none" strike="noStrike" cap="none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GVHD: PGS. TS. Hoàng Trang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SV: Lê Nam Khánh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MSSV: 2211512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1400" y="179387"/>
            <a:ext cx="1716087" cy="1560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dirty="0">
              <a:solidFill>
                <a:srgbClr val="0000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9A6B6-ED9F-5232-58D8-279F3DFC3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895A1-9DB4-4C1A-BF24-012F9B90BA2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A6386-86F1-2BD1-A9AC-E4C384963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C77B2-4F44-E255-FF58-9697A518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370CB-234C-0393-DBB3-C292F40D5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AB7B0-2E50-A43D-D943-972076B0B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B824F-885C-40F7-961F-CDB54F87B25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4D258-2B56-8A57-E9DB-F60328F5A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FF9D-CD7B-1860-A424-0B9398421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06057-F058-4EB7-AA01-CA3E7709C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9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4B7D8-FDF3-E7D6-1271-8206DE34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6724F-201D-4CC2-CB11-34B9AC7DC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C7326-8015-C578-9206-5E80A53A5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68675-D463-486B-8792-95FC9E7123C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B2EE7-398A-EA35-A299-BBC006731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4297-7587-37CD-ABAF-0FAF8E0BA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7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1900A-C6E0-6717-F860-AB83D1BD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4F4DB-6A97-1519-3491-40ED04B6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66F5B-5954-93AA-0CA4-00B249DB9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A0BE6-514D-4B41-9222-36D44DDD9EC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8F533-807D-66CE-DD35-E1A930502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CFC9-0246-AEB4-22ED-50A1719A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3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3" descr="Logo_hcmu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38200" cy="8382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390"/>
              </a:srgbClr>
            </a:outerShdw>
          </a:effectLst>
        </p:spPr>
      </p:pic>
      <p:sp>
        <p:nvSpPr>
          <p:cNvPr id="24" name="Google Shape;24;p13"/>
          <p:cNvSpPr txBox="1"/>
          <p:nvPr/>
        </p:nvSpPr>
        <p:spPr>
          <a:xfrm>
            <a:off x="3682470" y="6454361"/>
            <a:ext cx="2218267" cy="338514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Lê Nam Khánh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3"/>
          <p:cNvCxnSpPr/>
          <p:nvPr/>
        </p:nvCxnSpPr>
        <p:spPr>
          <a:xfrm>
            <a:off x="152400" y="990600"/>
            <a:ext cx="8839200" cy="0"/>
          </a:xfrm>
          <a:prstGeom prst="straightConnector1">
            <a:avLst/>
          </a:prstGeom>
          <a:noFill/>
          <a:ln w="50800" cap="flat" cmpd="sng">
            <a:solidFill>
              <a:srgbClr val="0070C0"/>
            </a:solidFill>
            <a:prstDash val="solid"/>
            <a:bevel/>
            <a:headEnd type="diamond" w="med" len="med"/>
            <a:tailEnd type="none" w="sm" len="sm"/>
          </a:ln>
        </p:spPr>
      </p:cxnSp>
      <p:sp>
        <p:nvSpPr>
          <p:cNvPr id="26" name="Google Shape;26;p13"/>
          <p:cNvSpPr txBox="1"/>
          <p:nvPr/>
        </p:nvSpPr>
        <p:spPr>
          <a:xfrm>
            <a:off x="76199" y="6414313"/>
            <a:ext cx="3589867" cy="338100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16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môn</a:t>
            </a:r>
            <a:r>
              <a:rPr lang="en-US" sz="16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Kỹ</a:t>
            </a:r>
            <a:r>
              <a:rPr lang="en-US" sz="16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Thuật</a:t>
            </a:r>
            <a:r>
              <a:rPr lang="en-US" sz="16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Điện</a:t>
            </a:r>
            <a:r>
              <a:rPr lang="en-US" sz="16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Tử</a:t>
            </a:r>
            <a:r>
              <a:rPr lang="en-US" sz="16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-LVTN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3"/>
          <p:cNvSpPr txBox="1"/>
          <p:nvPr/>
        </p:nvSpPr>
        <p:spPr>
          <a:xfrm>
            <a:off x="5900737" y="6454775"/>
            <a:ext cx="2743200" cy="338100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Ngày tháng năm bảo vệ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bg2">
            <a:lumMod val="60000"/>
            <a:lumOff val="40000"/>
          </a:schemeClr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40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6" scaled="0"/>
        </a:gra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40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6" scaled="0"/>
        </a:gra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7" descr="DHB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/>
          <p:nvPr/>
        </p:nvSpPr>
        <p:spPr>
          <a:xfrm>
            <a:off x="0" y="6346825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/>
          <p:nvPr/>
        </p:nvSpPr>
        <p:spPr>
          <a:xfrm>
            <a:off x="0" y="0"/>
            <a:ext cx="9153525" cy="1600200"/>
          </a:xfrm>
          <a:custGeom>
            <a:avLst/>
            <a:gdLst/>
            <a:ahLst/>
            <a:cxnLst/>
            <a:rect l="l" t="t" r="r" b="b"/>
            <a:pathLst>
              <a:path w="5766" h="1008" extrusionOk="0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7"/>
          <p:cNvSpPr/>
          <p:nvPr/>
        </p:nvSpPr>
        <p:spPr>
          <a:xfrm>
            <a:off x="0" y="0"/>
            <a:ext cx="9170988" cy="1362075"/>
          </a:xfrm>
          <a:custGeom>
            <a:avLst/>
            <a:gdLst/>
            <a:ahLst/>
            <a:cxnLst/>
            <a:rect l="l" t="t" r="r" b="b"/>
            <a:pathLst>
              <a:path w="5777" h="858" extrusionOk="0">
                <a:moveTo>
                  <a:pt x="0" y="858"/>
                </a:moveTo>
                <a:lnTo>
                  <a:pt x="1926" y="857"/>
                </a:lnTo>
                <a:cubicBezTo>
                  <a:pt x="2067" y="857"/>
                  <a:pt x="2068" y="850"/>
                  <a:pt x="2157" y="793"/>
                </a:cubicBezTo>
                <a:lnTo>
                  <a:pt x="2509" y="473"/>
                </a:lnTo>
                <a:cubicBezTo>
                  <a:pt x="2644" y="406"/>
                  <a:pt x="2477" y="396"/>
                  <a:pt x="2970" y="390"/>
                </a:cubicBezTo>
                <a:lnTo>
                  <a:pt x="5773" y="388"/>
                </a:lnTo>
                <a:lnTo>
                  <a:pt x="5777" y="0"/>
                </a:lnTo>
                <a:lnTo>
                  <a:pt x="0" y="2"/>
                </a:lnTo>
                <a:lnTo>
                  <a:pt x="0" y="85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0" y="4373562"/>
            <a:ext cx="9131300" cy="1036637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7" descr="Logo_hcmu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1900" y="0"/>
            <a:ext cx="1562100" cy="15621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390"/>
              </a:srgbClr>
            </a:outerShdw>
          </a:effectLst>
        </p:spPr>
      </p:pic>
      <p:sp>
        <p:nvSpPr>
          <p:cNvPr id="120" name="Google Shape;120;p27"/>
          <p:cNvSpPr txBox="1"/>
          <p:nvPr/>
        </p:nvSpPr>
        <p:spPr>
          <a:xfrm>
            <a:off x="0" y="4343400"/>
            <a:ext cx="932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Tầm nhìn-Sứ mạng-Mục tiêu-Nhiệm vụ (VMGO)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Bộ môn Điện Tử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352800" y="6096000"/>
            <a:ext cx="289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3390900" y="6453187"/>
            <a:ext cx="28956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09/2011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2971800" y="5791200"/>
            <a:ext cx="3048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Hoàng Trang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6" name="Google Shape;126;p27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40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6" scaled="0"/>
        </a:gra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/>
          <p:nvPr/>
        </p:nvSpPr>
        <p:spPr>
          <a:xfrm>
            <a:off x="0" y="76200"/>
            <a:ext cx="9131300" cy="12192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9" descr="hinh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9" descr="Logo_hcmu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838200" cy="8382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390"/>
              </a:srgbClr>
            </a:outerShdw>
          </a:effectLst>
        </p:spPr>
      </p:pic>
      <p:sp>
        <p:nvSpPr>
          <p:cNvPr id="133" name="Google Shape;133;p29"/>
          <p:cNvSpPr txBox="1"/>
          <p:nvPr/>
        </p:nvSpPr>
        <p:spPr>
          <a:xfrm>
            <a:off x="4114800" y="6597650"/>
            <a:ext cx="914400" cy="336600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853A55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4805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DD4805"/>
                </a:solidFill>
                <a:latin typeface="Arial"/>
                <a:ea typeface="Arial"/>
                <a:cs typeface="Arial"/>
                <a:sym typeface="Arial"/>
              </a:rPr>
              <a:t>09/2011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40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6" scaled="0"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31" descr="DHB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1"/>
          <p:cNvSpPr/>
          <p:nvPr/>
        </p:nvSpPr>
        <p:spPr>
          <a:xfrm>
            <a:off x="0" y="6346825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>
            <a:off x="0" y="0"/>
            <a:ext cx="9153525" cy="1600200"/>
          </a:xfrm>
          <a:custGeom>
            <a:avLst/>
            <a:gdLst/>
            <a:ahLst/>
            <a:cxnLst/>
            <a:rect l="l" t="t" r="r" b="b"/>
            <a:pathLst>
              <a:path w="5766" h="1008" extrusionOk="0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0" y="0"/>
            <a:ext cx="9170988" cy="1362075"/>
          </a:xfrm>
          <a:custGeom>
            <a:avLst/>
            <a:gdLst/>
            <a:ahLst/>
            <a:cxnLst/>
            <a:rect l="l" t="t" r="r" b="b"/>
            <a:pathLst>
              <a:path w="5777" h="858" extrusionOk="0">
                <a:moveTo>
                  <a:pt x="0" y="858"/>
                </a:moveTo>
                <a:lnTo>
                  <a:pt x="1926" y="857"/>
                </a:lnTo>
                <a:cubicBezTo>
                  <a:pt x="2067" y="857"/>
                  <a:pt x="2068" y="850"/>
                  <a:pt x="2157" y="793"/>
                </a:cubicBezTo>
                <a:lnTo>
                  <a:pt x="2509" y="473"/>
                </a:lnTo>
                <a:cubicBezTo>
                  <a:pt x="2644" y="406"/>
                  <a:pt x="2477" y="396"/>
                  <a:pt x="2970" y="390"/>
                </a:cubicBezTo>
                <a:lnTo>
                  <a:pt x="5773" y="388"/>
                </a:lnTo>
                <a:lnTo>
                  <a:pt x="5777" y="0"/>
                </a:lnTo>
                <a:lnTo>
                  <a:pt x="0" y="2"/>
                </a:lnTo>
                <a:lnTo>
                  <a:pt x="0" y="85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0" y="4373562"/>
            <a:ext cx="9131300" cy="1036637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1" descr="Logo_hcmu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1900" y="0"/>
            <a:ext cx="1562100" cy="15621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390"/>
              </a:srgbClr>
            </a:outerShdw>
          </a:effectLst>
        </p:spPr>
      </p:pic>
      <p:sp>
        <p:nvSpPr>
          <p:cNvPr id="149" name="Google Shape;149;p31"/>
          <p:cNvSpPr txBox="1"/>
          <p:nvPr/>
        </p:nvSpPr>
        <p:spPr>
          <a:xfrm>
            <a:off x="0" y="4343400"/>
            <a:ext cx="932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Tầm nhìn-Sứ mạng-Mục tiêu-Nhiệm vụ (VMGO)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Bộ môn Điện Tử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 txBox="1"/>
          <p:nvPr/>
        </p:nvSpPr>
        <p:spPr>
          <a:xfrm>
            <a:off x="3352800" y="6096000"/>
            <a:ext cx="289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 txBox="1"/>
          <p:nvPr/>
        </p:nvSpPr>
        <p:spPr>
          <a:xfrm>
            <a:off x="3390900" y="6453187"/>
            <a:ext cx="28956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09/2011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 txBox="1"/>
          <p:nvPr/>
        </p:nvSpPr>
        <p:spPr>
          <a:xfrm>
            <a:off x="2971800" y="5791200"/>
            <a:ext cx="3048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Hoàng Trang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74E37659-5308-57AD-5E93-EB55D993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>
            <a:extLst>
              <a:ext uri="{FF2B5EF4-FFF2-40B4-BE49-F238E27FC236}">
                <a16:creationId xmlns:a16="http://schemas.microsoft.com/office/drawing/2014/main" id="{C964088E-4A12-6C35-AEBF-3CCF545FD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100" y="320912"/>
            <a:ext cx="80010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400"/>
              <a:buFont typeface="Arial"/>
              <a:buNone/>
            </a:pPr>
            <a:r>
              <a:rPr lang="en-US" sz="44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44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dung</a:t>
            </a:r>
            <a:endParaRPr dirty="0"/>
          </a:p>
        </p:txBody>
      </p:sp>
      <p:sp>
        <p:nvSpPr>
          <p:cNvPr id="170" name="Google Shape;170;p2">
            <a:extLst>
              <a:ext uri="{FF2B5EF4-FFF2-40B4-BE49-F238E27FC236}">
                <a16:creationId xmlns:a16="http://schemas.microsoft.com/office/drawing/2014/main" id="{F4D99E32-6411-D42D-B4A8-B5AE91E0C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4100" y="1105625"/>
            <a:ext cx="8001000" cy="51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Giới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thiệu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tổng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</a:t>
            </a:r>
            <a:r>
              <a:rPr lang="en-US" dirty="0" err="1"/>
              <a:t>n</a:t>
            </a:r>
            <a:endParaRPr dirty="0"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Đặc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tả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hệ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thống</a:t>
            </a:r>
            <a:endParaRPr lang="en-US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dirty="0"/>
              <a:t>Các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dirty="0"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Thiết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phần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cứng</a:t>
            </a:r>
            <a:endParaRPr dirty="0"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Phát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triển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phần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mềm</a:t>
            </a:r>
            <a:endParaRPr lang="en-US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endParaRPr dirty="0"/>
          </a:p>
          <a:p>
            <a:pPr marL="514350" marR="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>
            <a:extLst>
              <a:ext uri="{FF2B5EF4-FFF2-40B4-BE49-F238E27FC236}">
                <a16:creationId xmlns:a16="http://schemas.microsoft.com/office/drawing/2014/main" id="{D2629BE0-C277-1E26-2F7B-B73A57A3A704}"/>
              </a:ext>
            </a:extLst>
          </p:cNvPr>
          <p:cNvSpPr txBox="1"/>
          <p:nvPr/>
        </p:nvSpPr>
        <p:spPr>
          <a:xfrm>
            <a:off x="394675" y="631032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>
            <a:extLst>
              <a:ext uri="{FF2B5EF4-FFF2-40B4-BE49-F238E27FC236}">
                <a16:creationId xmlns:a16="http://schemas.microsoft.com/office/drawing/2014/main" id="{7F01C028-2854-3589-9483-2B6112EF50D8}"/>
              </a:ext>
            </a:extLst>
          </p:cNvPr>
          <p:cNvSpPr txBox="1"/>
          <p:nvPr/>
        </p:nvSpPr>
        <p:spPr>
          <a:xfrm>
            <a:off x="3124200" y="5908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>
            <a:extLst>
              <a:ext uri="{FF2B5EF4-FFF2-40B4-BE49-F238E27FC236}">
                <a16:creationId xmlns:a16="http://schemas.microsoft.com/office/drawing/2014/main" id="{A74CEC8F-FD35-45DD-1D18-A112EB1CDECB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945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Giới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thiệu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endParaRPr dirty="0"/>
          </a:p>
        </p:txBody>
      </p:sp>
      <p:sp>
        <p:nvSpPr>
          <p:cNvPr id="187" name="Google Shape;187;p3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453518" y="1268215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dk1"/>
                </a:solidFill>
              </a:rPr>
              <a:t>Sơ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đồ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khối</a:t>
            </a:r>
            <a:r>
              <a:rPr lang="en-US" sz="2400" dirty="0">
                <a:solidFill>
                  <a:schemeClr val="dk1"/>
                </a:solidFill>
              </a:rPr>
              <a:t> RISCV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F8FD93-D89F-A994-41AB-8CE9AD277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72" y="2031020"/>
            <a:ext cx="7798655" cy="359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E0FA1B98-8143-A769-B86F-7A6D7C45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B5BCCE17-76D9-B980-64B3-CC55F0033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Giới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thiệu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endParaRPr dirty="0"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95B9DB3B-0A83-B644-39A5-FE51B84478EB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19A9B342-83F2-2C93-03CD-FA3CEE3FFD69}"/>
              </a:ext>
            </a:extLst>
          </p:cNvPr>
          <p:cNvSpPr txBox="1"/>
          <p:nvPr/>
        </p:nvSpPr>
        <p:spPr>
          <a:xfrm>
            <a:off x="453518" y="1268215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highlight>
                  <a:srgbClr val="FFFF00"/>
                </a:highlight>
              </a:rPr>
              <a:t>APB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227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26CAB4B4-D7BF-334C-5CCB-A10189EC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49D4D4DE-49B9-160E-8DE2-4132A1747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Giới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thiệu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endParaRPr dirty="0"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B735AE3D-9E76-58C1-D382-B99767D398FB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A8710F99-9E02-03E7-EAE1-79A9F97F72AC}"/>
              </a:ext>
            </a:extLst>
          </p:cNvPr>
          <p:cNvSpPr txBox="1"/>
          <p:nvPr/>
        </p:nvSpPr>
        <p:spPr>
          <a:xfrm>
            <a:off x="453518" y="1268215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highlight>
                  <a:srgbClr val="FFFF00"/>
                </a:highlight>
              </a:rPr>
              <a:t>AHB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762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5DF1DE84-2D77-F46E-4B6B-2A7D0B4B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C3E09F16-DE45-505F-FE84-6ABEBFD27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Giới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thiệu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endParaRPr dirty="0"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5BB5B5A9-3C37-2865-05A5-687AF0B855FC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9813A2AA-E78C-5FBF-664C-23BAFA5D3721}"/>
              </a:ext>
            </a:extLst>
          </p:cNvPr>
          <p:cNvSpPr txBox="1"/>
          <p:nvPr/>
        </p:nvSpPr>
        <p:spPr>
          <a:xfrm>
            <a:off x="453518" y="1268215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dk1"/>
                </a:solidFill>
                <a:highlight>
                  <a:srgbClr val="FFFF00"/>
                </a:highlight>
              </a:rPr>
              <a:t>AHB_APB_BRIDGE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587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AF164571-EDBE-5BF2-2BEA-922144B4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B2F3DF70-C26E-61BC-E71E-785B078DB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8AC74FE3-2DDB-2231-4818-E19175DA8245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D85C6B80-DB47-ACC9-3566-6BD5D39D407E}"/>
              </a:ext>
            </a:extLst>
          </p:cNvPr>
          <p:cNvSpPr txBox="1"/>
          <p:nvPr/>
        </p:nvSpPr>
        <p:spPr>
          <a:xfrm>
            <a:off x="394142" y="985647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dk1"/>
                </a:solidFill>
              </a:rPr>
              <a:t>Sơ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đồ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khối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xử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lý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ảnh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B3E79F-26B8-A264-E5A6-63145D1D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2" y="1573232"/>
            <a:ext cx="7447822" cy="479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923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5FEA074B-2127-0860-F449-FE72B6AA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5EBFE23F-0B6A-E2C8-DFEF-6159ED4C1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B4740A80-A509-2401-D5BF-879F2BDC9A0C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D10FEC8A-67CC-731E-224B-A78F4BDD11DE}"/>
              </a:ext>
            </a:extLst>
          </p:cNvPr>
          <p:cNvSpPr txBox="1"/>
          <p:nvPr/>
        </p:nvSpPr>
        <p:spPr>
          <a:xfrm>
            <a:off x="429768" y="143256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dk1"/>
                </a:solidFill>
              </a:rPr>
              <a:t>Sơ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đồ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khối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tổng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quát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48F51-62DF-4A2A-386D-F38BC4C65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05" y="2363132"/>
            <a:ext cx="8256990" cy="339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331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3330CEAD-6543-66C7-0B4D-DEA06833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C678C00D-30AE-D789-4F4F-1AF15F6D8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18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 sz="1800"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4FB21310-50A6-DC3D-CBD8-2F05DF5C3B75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C82FD221-7D04-AD11-4678-E34482E36A20}"/>
              </a:ext>
            </a:extLst>
          </p:cNvPr>
          <p:cNvSpPr txBox="1"/>
          <p:nvPr/>
        </p:nvSpPr>
        <p:spPr>
          <a:xfrm>
            <a:off x="429768" y="1432560"/>
            <a:ext cx="7848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</a:rPr>
              <a:t>Tổng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quan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về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cấu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trúc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13E6057-41A4-9A29-6204-0C872E027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870392"/>
              </p:ext>
            </p:extLst>
          </p:nvPr>
        </p:nvGraphicFramePr>
        <p:xfrm>
          <a:off x="749808" y="2526674"/>
          <a:ext cx="7848600" cy="3241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62475" imgH="2216285" progId="Excel.Sheet.12">
                  <p:embed/>
                </p:oleObj>
              </mc:Choice>
              <mc:Fallback>
                <p:oleObj name="Worksheet" r:id="rId3" imgW="4362475" imgH="22162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9808" y="2526674"/>
                        <a:ext cx="7848600" cy="3241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96019D3-D73C-2D56-07BE-6B427F73D05F}"/>
              </a:ext>
            </a:extLst>
          </p:cNvPr>
          <p:cNvSpPr txBox="1"/>
          <p:nvPr/>
        </p:nvSpPr>
        <p:spPr>
          <a:xfrm>
            <a:off x="749808" y="2010374"/>
            <a:ext cx="1033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</a:pPr>
            <a:r>
              <a:rPr lang="en-US" sz="1400" b="1" dirty="0">
                <a:solidFill>
                  <a:srgbClr val="FF0000"/>
                </a:solidFill>
              </a:rPr>
              <a:t>AHB BUS</a:t>
            </a:r>
            <a:endParaRPr lang="en-US"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854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4832212B-1DB5-3621-1B5D-594C8213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2DCAFE79-C579-D99C-D35D-93149C6EF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18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 sz="1800"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4A3A7472-AA26-3BD5-4422-9C98FC815C1F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7D2E2A38-44B6-A366-C635-E4AB26DC3CF7}"/>
              </a:ext>
            </a:extLst>
          </p:cNvPr>
          <p:cNvSpPr txBox="1"/>
          <p:nvPr/>
        </p:nvSpPr>
        <p:spPr>
          <a:xfrm>
            <a:off x="429768" y="1432560"/>
            <a:ext cx="7848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</a:rPr>
              <a:t>Tổng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quan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về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cấu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trúc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67C42-BE29-D1A4-BCF3-277A7D17A7FB}"/>
              </a:ext>
            </a:extLst>
          </p:cNvPr>
          <p:cNvSpPr txBox="1"/>
          <p:nvPr/>
        </p:nvSpPr>
        <p:spPr>
          <a:xfrm>
            <a:off x="724408" y="1940836"/>
            <a:ext cx="1033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</a:pPr>
            <a:r>
              <a:rPr lang="en-US" sz="1400" b="1" dirty="0">
                <a:solidFill>
                  <a:srgbClr val="FF0000"/>
                </a:solidFill>
              </a:rPr>
              <a:t>APB BUS</a:t>
            </a:r>
            <a:endParaRPr lang="en-US"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ADF2BA0-4B55-7347-35AE-89C31494AA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787424"/>
              </p:ext>
            </p:extLst>
          </p:nvPr>
        </p:nvGraphicFramePr>
        <p:xfrm>
          <a:off x="545889" y="2589496"/>
          <a:ext cx="8052222" cy="3115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51442" imgH="2031865" progId="Excel.Sheet.12">
                  <p:embed/>
                </p:oleObj>
              </mc:Choice>
              <mc:Fallback>
                <p:oleObj name="Worksheet" r:id="rId3" imgW="5251442" imgH="203186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5889" y="2589496"/>
                        <a:ext cx="8052222" cy="3115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7609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9163699F-BDA1-4917-3CF5-67DFBD3A9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4A467B7B-A536-7CB6-2265-6901689B1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18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 sz="1800"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5965960B-7CE5-0669-8394-2BDBD823D470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423969A5-EE31-4E9F-FBBF-C5715373B2F1}"/>
              </a:ext>
            </a:extLst>
          </p:cNvPr>
          <p:cNvSpPr txBox="1"/>
          <p:nvPr/>
        </p:nvSpPr>
        <p:spPr>
          <a:xfrm>
            <a:off x="429768" y="1432560"/>
            <a:ext cx="7848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</a:rPr>
              <a:t>Tổng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quan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về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cấu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trúc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E75EE-A7C2-1F2D-30D3-481CC2325969}"/>
              </a:ext>
            </a:extLst>
          </p:cNvPr>
          <p:cNvSpPr txBox="1"/>
          <p:nvPr/>
        </p:nvSpPr>
        <p:spPr>
          <a:xfrm>
            <a:off x="749808" y="2044241"/>
            <a:ext cx="1033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</a:pPr>
            <a:r>
              <a:rPr lang="en-US" sz="1400" b="1" dirty="0">
                <a:solidFill>
                  <a:srgbClr val="FF0000"/>
                </a:solidFill>
              </a:rPr>
              <a:t>Others</a:t>
            </a:r>
            <a:endParaRPr lang="en-US"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CC95D70-71B5-EC3A-DD17-4B81E4B02B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376909"/>
              </p:ext>
            </p:extLst>
          </p:nvPr>
        </p:nvGraphicFramePr>
        <p:xfrm>
          <a:off x="491371" y="2738341"/>
          <a:ext cx="8161258" cy="201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51442" imgH="1295400" progId="Excel.Sheet.12">
                  <p:embed/>
                </p:oleObj>
              </mc:Choice>
              <mc:Fallback>
                <p:oleObj name="Worksheet" r:id="rId3" imgW="5251442" imgH="1295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1371" y="2738341"/>
                        <a:ext cx="8161258" cy="201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400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0610D4C6-B244-3644-A804-776B69EE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DD06E671-85EC-C91C-C00F-FC6ED3614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EE6B4BCE-24F7-37F0-6799-6F20D3C0221C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12EFE9FD-7739-67F8-6EF3-022BDFED3DA9}"/>
              </a:ext>
            </a:extLst>
          </p:cNvPr>
          <p:cNvSpPr txBox="1"/>
          <p:nvPr/>
        </p:nvSpPr>
        <p:spPr>
          <a:xfrm>
            <a:off x="429768" y="143256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Control path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5D33C3A-FAD8-0BAD-76C7-FA7D000A1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77" y="1806874"/>
            <a:ext cx="8410045" cy="375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017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B16F084B-9364-5ED1-0B98-C3F981D0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06408449-5984-BE1E-8A67-ACA4236F6F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20FA2E13-A4EB-6FE4-23D2-D93EC931BE99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7AE1F02E-6564-941F-7E72-0042B1AA8800}"/>
              </a:ext>
            </a:extLst>
          </p:cNvPr>
          <p:cNvSpPr txBox="1"/>
          <p:nvPr/>
        </p:nvSpPr>
        <p:spPr>
          <a:xfrm>
            <a:off x="429768" y="143256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Data path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38029E5-9043-99C8-BA17-FF60A3D0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32" y="2345212"/>
            <a:ext cx="8976468" cy="321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200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EA3CAB27-1730-7DCF-D1E9-AC92DF7D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590A7EC0-FA9B-2234-D1E9-679E82EC0D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34437EB2-FBB8-44D9-D357-57FC159F84EB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722C91A5-595F-77AF-992D-C6B7EAD47248}"/>
              </a:ext>
            </a:extLst>
          </p:cNvPr>
          <p:cNvSpPr txBox="1"/>
          <p:nvPr/>
        </p:nvSpPr>
        <p:spPr>
          <a:xfrm>
            <a:off x="429768" y="143256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Data path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45F16B-4043-9307-14E4-8762EA40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9" y="1154100"/>
            <a:ext cx="8659433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35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244C5564-E239-F285-1093-BB79E431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>
            <a:extLst>
              <a:ext uri="{FF2B5EF4-FFF2-40B4-BE49-F238E27FC236}">
                <a16:creationId xmlns:a16="http://schemas.microsoft.com/office/drawing/2014/main" id="{BE34B0FA-A419-8314-4ED5-0A08E07BD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/>
          </a:p>
        </p:txBody>
      </p:sp>
      <p:sp>
        <p:nvSpPr>
          <p:cNvPr id="187" name="Google Shape;187;p3">
            <a:extLst>
              <a:ext uri="{FF2B5EF4-FFF2-40B4-BE49-F238E27FC236}">
                <a16:creationId xmlns:a16="http://schemas.microsoft.com/office/drawing/2014/main" id="{D379C3B5-B9E8-98D4-027E-60EE134E4435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>
            <a:extLst>
              <a:ext uri="{FF2B5EF4-FFF2-40B4-BE49-F238E27FC236}">
                <a16:creationId xmlns:a16="http://schemas.microsoft.com/office/drawing/2014/main" id="{A8290584-03EE-8BD3-53B2-1D66708CF578}"/>
              </a:ext>
            </a:extLst>
          </p:cNvPr>
          <p:cNvSpPr txBox="1"/>
          <p:nvPr/>
        </p:nvSpPr>
        <p:spPr>
          <a:xfrm>
            <a:off x="429768" y="143256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Data path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1797C-E07A-AB50-26E7-8B9F42EA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78" y="2029676"/>
            <a:ext cx="8449854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1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Đặc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tả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endParaRPr dirty="0"/>
          </a:p>
        </p:txBody>
      </p:sp>
      <p:sp>
        <p:nvSpPr>
          <p:cNvPr id="201" name="Google Shape;201;p5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457200" y="2057400"/>
            <a:ext cx="8382000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tả các đặc tính của hệ thống cần thiết kế theo nhiệm vụ luận văn</a:t>
            </a:r>
            <a:endParaRPr lang="vi-V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Yêu cầu thiết kế,….</a:t>
            </a:r>
            <a:endParaRPr lang="vi-V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Vẽ sơ đồ khối hệ thống</a:t>
            </a:r>
            <a:endParaRPr lang="vi-V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giới hạn, ràng buộc của hệ thống</a:t>
            </a:r>
            <a:endParaRPr lang="vi-V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tả nguyên lý hoạt động của hệ thống</a:t>
            </a:r>
            <a:endParaRPr lang="vi-V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…..</a:t>
            </a:r>
            <a:endParaRPr lang="vi-V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6B55AE45-DE63-1602-73CD-08CB5A18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>
            <a:extLst>
              <a:ext uri="{FF2B5EF4-FFF2-40B4-BE49-F238E27FC236}">
                <a16:creationId xmlns:a16="http://schemas.microsoft.com/office/drawing/2014/main" id="{3DB544A0-8A4C-2456-E0EC-2213CC1EC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3. Các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iai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đoạn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endParaRPr dirty="0"/>
          </a:p>
        </p:txBody>
      </p:sp>
      <p:sp>
        <p:nvSpPr>
          <p:cNvPr id="201" name="Google Shape;201;p5">
            <a:extLst>
              <a:ext uri="{FF2B5EF4-FFF2-40B4-BE49-F238E27FC236}">
                <a16:creationId xmlns:a16="http://schemas.microsoft.com/office/drawing/2014/main" id="{98CD676D-D410-3A3B-3EFA-80AA0033A97A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50EB25-A249-4FF7-FB30-2FE094AFDCEB}"/>
              </a:ext>
            </a:extLst>
          </p:cNvPr>
          <p:cNvSpPr txBox="1"/>
          <p:nvPr/>
        </p:nvSpPr>
        <p:spPr>
          <a:xfrm>
            <a:off x="518498" y="1646844"/>
            <a:ext cx="84561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Giai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đoạn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kiểm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thử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implementation RISCV </a:t>
            </a:r>
            <a:r>
              <a:rPr lang="en-US" sz="1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(done)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Giai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đoạn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phần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viết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phần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mềm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 HEX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chứa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ảnh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Sau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đó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viết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Verilog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khối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IPU, DRAM -&gt; Xong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đó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Verify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bằng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direct test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Giai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đoạn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BUS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như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APB, AHB, ABP – AHB Bridge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nếu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Xong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rồi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verify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Giai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đoạn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kiểm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định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DMA.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Case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bản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IPU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Giai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đoạn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Tích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hợp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những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thứ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ở 3 phase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đầu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lên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thành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 SoC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056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Thiết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kế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cứng</a:t>
            </a:r>
            <a:endParaRPr dirty="0"/>
          </a:p>
        </p:txBody>
      </p:sp>
      <p:sp>
        <p:nvSpPr>
          <p:cNvPr id="208" name="Google Shape;208;p6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381000" y="1397000"/>
            <a:ext cx="8382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</a:rPr>
              <a:t>Thiết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kế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khối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xử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lý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ảnh</a:t>
            </a:r>
            <a:r>
              <a:rPr lang="en-US" sz="1800" dirty="0">
                <a:solidFill>
                  <a:schemeClr val="dk1"/>
                </a:solidFill>
              </a:rPr>
              <a:t> (IPU)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6AB9CC2A-EEFC-D678-ED56-52E6EC23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>
            <a:extLst>
              <a:ext uri="{FF2B5EF4-FFF2-40B4-BE49-F238E27FC236}">
                <a16:creationId xmlns:a16="http://schemas.microsoft.com/office/drawing/2014/main" id="{88F59866-8533-8758-49AC-9A0D9D6C59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Thiết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kế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4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mềm</a:t>
            </a:r>
            <a:endParaRPr dirty="0"/>
          </a:p>
        </p:txBody>
      </p:sp>
      <p:sp>
        <p:nvSpPr>
          <p:cNvPr id="208" name="Google Shape;208;p6">
            <a:extLst>
              <a:ext uri="{FF2B5EF4-FFF2-40B4-BE49-F238E27FC236}">
                <a16:creationId xmlns:a16="http://schemas.microsoft.com/office/drawing/2014/main" id="{50316020-E590-9378-761E-E2A2D5D1D686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>
            <a:extLst>
              <a:ext uri="{FF2B5EF4-FFF2-40B4-BE49-F238E27FC236}">
                <a16:creationId xmlns:a16="http://schemas.microsoft.com/office/drawing/2014/main" id="{C3DC2DC4-D696-BF46-04E6-80910A6C3157}"/>
              </a:ext>
            </a:extLst>
          </p:cNvPr>
          <p:cNvSpPr txBox="1"/>
          <p:nvPr/>
        </p:nvSpPr>
        <p:spPr>
          <a:xfrm>
            <a:off x="457200" y="2057400"/>
            <a:ext cx="83820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Viết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python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khối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 module,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tạo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pattern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chứa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ảnh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(hex),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pattern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đó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sẽ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làm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golden model.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đó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sẽ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viết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testbench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6383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0" y="838200"/>
            <a:ext cx="91440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1708404" y="2521972"/>
            <a:ext cx="5727192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9600"/>
              <a:buFont typeface="Arial"/>
              <a:buNone/>
            </a:pPr>
            <a:r>
              <a:rPr lang="en-US" sz="5000" b="1" dirty="0" err="1">
                <a:solidFill>
                  <a:srgbClr val="3376C7"/>
                </a:solidFill>
              </a:rPr>
              <a:t>Cảm</a:t>
            </a:r>
            <a:r>
              <a:rPr lang="en-US" sz="5000" b="1" dirty="0">
                <a:solidFill>
                  <a:srgbClr val="3376C7"/>
                </a:solidFill>
              </a:rPr>
              <a:t> </a:t>
            </a:r>
            <a:r>
              <a:rPr lang="en-US" sz="5000" b="1" dirty="0" err="1">
                <a:solidFill>
                  <a:srgbClr val="3376C7"/>
                </a:solidFill>
              </a:rPr>
              <a:t>ơn</a:t>
            </a:r>
            <a:r>
              <a:rPr lang="en-US" sz="5000" b="1" dirty="0">
                <a:solidFill>
                  <a:srgbClr val="3376C7"/>
                </a:solidFill>
              </a:rPr>
              <a:t> </a:t>
            </a:r>
            <a:r>
              <a:rPr lang="en-US" sz="5000" b="1" dirty="0" err="1">
                <a:solidFill>
                  <a:srgbClr val="3376C7"/>
                </a:solidFill>
              </a:rPr>
              <a:t>Thầy</a:t>
            </a:r>
            <a:r>
              <a:rPr lang="en-US" sz="5000" b="1" dirty="0">
                <a:solidFill>
                  <a:srgbClr val="3376C7"/>
                </a:solidFill>
              </a:rPr>
              <a:t> </a:t>
            </a:r>
            <a:r>
              <a:rPr lang="en-US" sz="5000" b="1" dirty="0" err="1">
                <a:solidFill>
                  <a:srgbClr val="3376C7"/>
                </a:solidFill>
              </a:rPr>
              <a:t>đã</a:t>
            </a:r>
            <a:r>
              <a:rPr lang="en-US" sz="5000" b="1" dirty="0">
                <a:solidFill>
                  <a:srgbClr val="3376C7"/>
                </a:solidFill>
              </a:rPr>
              <a:t> </a:t>
            </a:r>
            <a:r>
              <a:rPr lang="en-US" sz="5000" b="1" dirty="0" err="1">
                <a:solidFill>
                  <a:srgbClr val="3376C7"/>
                </a:solidFill>
              </a:rPr>
              <a:t>lắng</a:t>
            </a:r>
            <a:r>
              <a:rPr lang="en-US" sz="5000" b="1" dirty="0">
                <a:solidFill>
                  <a:srgbClr val="3376C7"/>
                </a:solidFill>
              </a:rPr>
              <a:t> </a:t>
            </a:r>
            <a:r>
              <a:rPr lang="en-US" sz="5000" b="1" dirty="0" err="1">
                <a:solidFill>
                  <a:srgbClr val="3376C7"/>
                </a:solidFill>
              </a:rPr>
              <a:t>nghe</a:t>
            </a:r>
            <a:endParaRPr sz="5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4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570</Words>
  <Application>Microsoft Office PowerPoint</Application>
  <PresentationFormat>On-screen Show (4:3)</PresentationFormat>
  <Paragraphs>90</Paragraphs>
  <Slides>20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2_Office Theme</vt:lpstr>
      <vt:lpstr>2_Custom Design</vt:lpstr>
      <vt:lpstr>Custom Design</vt:lpstr>
      <vt:lpstr>1_Custom Design</vt:lpstr>
      <vt:lpstr>1_Office Theme</vt:lpstr>
      <vt:lpstr>1_Hoang Trang'course format</vt:lpstr>
      <vt:lpstr>Office Theme</vt:lpstr>
      <vt:lpstr>2_Hoang Trang'course format</vt:lpstr>
      <vt:lpstr>3_Hoang Trang'course format</vt:lpstr>
      <vt:lpstr>4_Hoang Trang'course format</vt:lpstr>
      <vt:lpstr>Worksheet</vt:lpstr>
      <vt:lpstr>PowerPoint Presentation</vt:lpstr>
      <vt:lpstr>Nội dung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2. Đặc tả hệ thống</vt:lpstr>
      <vt:lpstr>3. Các giai đoạn thực hiện</vt:lpstr>
      <vt:lpstr>4. Thiết kế phần cứng</vt:lpstr>
      <vt:lpstr>5. Thiết kế phần mềm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HOANG Trang</dc:creator>
  <cp:lastModifiedBy>Khanh Le</cp:lastModifiedBy>
  <cp:revision>20</cp:revision>
  <dcterms:created xsi:type="dcterms:W3CDTF">2010-08-18T20:21:10Z</dcterms:created>
  <dcterms:modified xsi:type="dcterms:W3CDTF">2026-02-09T17:03:02Z</dcterms:modified>
</cp:coreProperties>
</file>