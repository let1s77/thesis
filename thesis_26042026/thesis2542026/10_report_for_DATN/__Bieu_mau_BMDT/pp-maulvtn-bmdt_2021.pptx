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  <p:sldMasterId id="2147483652" r:id="rId6"/>
    <p:sldMasterId id="2147483653" r:id="rId7"/>
    <p:sldMasterId id="2147483664" r:id="rId8"/>
    <p:sldMasterId id="2147483666" r:id="rId9"/>
    <p:sldMasterId id="2147483668" r:id="rId10"/>
  </p:sldMasterIdLst>
  <p:notesMasterIdLst>
    <p:notesMasterId r:id="rId11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22" roundtripDataSignature="AMtx7mhMNE492a+rOTHRnEHoMukfWjI9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22" Type="http://customschemas.google.com/relationships/presentationmetadata" Target="metadata"/><Relationship Id="rId10" Type="http://schemas.openxmlformats.org/officeDocument/2006/relationships/slideMaster" Target="slideMasters/slideMaster7.xml"/><Relationship Id="rId21" Type="http://schemas.openxmlformats.org/officeDocument/2006/relationships/slide" Target="slides/slide10.xml"/><Relationship Id="rId13" Type="http://schemas.openxmlformats.org/officeDocument/2006/relationships/slide" Target="slides/slide2.xml"/><Relationship Id="rId12" Type="http://schemas.openxmlformats.org/officeDocument/2006/relationships/slide" Target="slides/slide1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5" Type="http://schemas.openxmlformats.org/officeDocument/2006/relationships/slide" Target="slides/slide4.xml"/><Relationship Id="rId14" Type="http://schemas.openxmlformats.org/officeDocument/2006/relationships/slide" Target="slides/slide3.xml"/><Relationship Id="rId17" Type="http://schemas.openxmlformats.org/officeDocument/2006/relationships/slide" Target="slides/slide6.xml"/><Relationship Id="rId16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8.xml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7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/>
          <p:nvPr>
            <p:ph idx="12" type="sldNum"/>
          </p:nvPr>
        </p:nvSpPr>
        <p:spPr>
          <a:xfrm>
            <a:off x="0" y="6610350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b="0" i="0" sz="10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b="0" i="0" sz="10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b="0" i="0" sz="10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b="0" i="0" sz="10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b="0" i="0" sz="10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b="0" i="0" sz="10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b="0" i="0" sz="10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b="0" i="0" sz="10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b="0" i="0" sz="10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685800" y="274638"/>
            <a:ext cx="80010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685800" y="990600"/>
            <a:ext cx="8001000" cy="513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1" name="Google Shape;71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7" name="Google Shape;87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8" name="Google Shape;88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9" name="Google Shape;89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0" name="Google Shape;90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6" name="Google Shape;96;p2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7" name="Google Shape;9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3" name="Google Shape;103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9" name="Google Shape;109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8"/>
          <p:cNvSpPr txBox="1"/>
          <p:nvPr>
            <p:ph idx="12" type="sldNum"/>
          </p:nvPr>
        </p:nvSpPr>
        <p:spPr>
          <a:xfrm>
            <a:off x="0" y="6610350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/>
          <p:nvPr>
            <p:ph type="title"/>
          </p:nvPr>
        </p:nvSpPr>
        <p:spPr>
          <a:xfrm>
            <a:off x="381000" y="2667000"/>
            <a:ext cx="8401050" cy="674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0"/>
          <p:cNvSpPr txBox="1"/>
          <p:nvPr>
            <p:ph idx="1" type="body"/>
          </p:nvPr>
        </p:nvSpPr>
        <p:spPr>
          <a:xfrm>
            <a:off x="0" y="990600"/>
            <a:ext cx="8437562" cy="4754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0" name="Google Shape;140;p30"/>
          <p:cNvSpPr txBox="1"/>
          <p:nvPr>
            <p:ph idx="12" type="sldNum"/>
          </p:nvPr>
        </p:nvSpPr>
        <p:spPr>
          <a:xfrm>
            <a:off x="7086600" y="65532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2"/>
          <p:cNvSpPr txBox="1"/>
          <p:nvPr>
            <p:ph idx="12" type="sldNum"/>
          </p:nvPr>
        </p:nvSpPr>
        <p:spPr>
          <a:xfrm>
            <a:off x="0" y="6610350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8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theme" Target="../theme/theme6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1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8.jpg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3.xml"/><Relationship Id="rId5" Type="http://schemas.openxmlformats.org/officeDocument/2006/relationships/theme" Target="../theme/theme5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4.xml"/><Relationship Id="rId4" Type="http://schemas.openxmlformats.org/officeDocument/2006/relationships/theme" Target="../theme/theme3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image" Target="../media/image8.jpg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5.xml"/><Relationship Id="rId5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0" y="381000"/>
            <a:ext cx="9131300" cy="914400"/>
          </a:xfrm>
          <a:custGeom>
            <a:rect b="b" l="l" r="r" t="t"/>
            <a:pathLst>
              <a:path extrusionOk="0" h="444" w="5752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1"/>
          <p:cNvSpPr/>
          <p:nvPr/>
        </p:nvSpPr>
        <p:spPr>
          <a:xfrm>
            <a:off x="0" y="6346825"/>
            <a:ext cx="9131300" cy="511175"/>
          </a:xfrm>
          <a:custGeom>
            <a:rect b="b" l="l" r="r" t="t"/>
            <a:pathLst>
              <a:path extrusionOk="0" h="444" w="5752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1"/>
          <p:cNvSpPr txBox="1"/>
          <p:nvPr/>
        </p:nvSpPr>
        <p:spPr>
          <a:xfrm>
            <a:off x="-92075" y="220662"/>
            <a:ext cx="9326562" cy="14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0272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170272"/>
                </a:solidFill>
                <a:latin typeface="Arial"/>
                <a:ea typeface="Arial"/>
                <a:cs typeface="Arial"/>
                <a:sym typeface="Arial"/>
              </a:rPr>
              <a:t>ĐẠI HỌC QUỐC GIA TP.HỒ CHÍ MINH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0272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170272"/>
                </a:solidFill>
                <a:latin typeface="Arial"/>
                <a:ea typeface="Arial"/>
                <a:cs typeface="Arial"/>
                <a:sym typeface="Arial"/>
              </a:rPr>
              <a:t>TRƯỜNG ĐẠI HỌC BÁCH KHOA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0272"/>
              </a:buClr>
              <a:buSzPts val="2200"/>
              <a:buFont typeface="Arial"/>
              <a:buNone/>
            </a:pPr>
            <a:r>
              <a:rPr b="1" i="0" lang="en-US" sz="2200" u="none">
                <a:solidFill>
                  <a:srgbClr val="170272"/>
                </a:solidFill>
                <a:latin typeface="Arial"/>
                <a:ea typeface="Arial"/>
                <a:cs typeface="Arial"/>
                <a:sym typeface="Arial"/>
              </a:rPr>
              <a:t>KHOA ĐIỆN-ĐIỆN TỬ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0272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170272"/>
                </a:solidFill>
                <a:latin typeface="Arial"/>
                <a:ea typeface="Arial"/>
                <a:cs typeface="Arial"/>
                <a:sym typeface="Arial"/>
              </a:rPr>
              <a:t>BỘ MÔN KỸ THUẬT ĐIỆN TỬ</a:t>
            </a:r>
            <a:endParaRPr/>
          </a:p>
        </p:txBody>
      </p:sp>
      <p:sp>
        <p:nvSpPr>
          <p:cNvPr id="13" name="Google Shape;13;p11"/>
          <p:cNvSpPr txBox="1"/>
          <p:nvPr/>
        </p:nvSpPr>
        <p:spPr>
          <a:xfrm>
            <a:off x="3352800" y="6096000"/>
            <a:ext cx="28956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 txBox="1"/>
          <p:nvPr/>
        </p:nvSpPr>
        <p:spPr>
          <a:xfrm>
            <a:off x="2514600" y="6453187"/>
            <a:ext cx="66294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6ACB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2F6ACB"/>
                </a:solidFill>
                <a:latin typeface="Arial"/>
                <a:ea typeface="Arial"/>
                <a:cs typeface="Arial"/>
                <a:sym typeface="Arial"/>
              </a:rPr>
              <a:t>TP.Hồ Chí Minh  ngayngay /tt/nnnn (nhập ngày/tháng/năm ngày bảo vệ)</a:t>
            </a:r>
            <a:endParaRPr/>
          </a:p>
        </p:txBody>
      </p:sp>
      <p:sp>
        <p:nvSpPr>
          <p:cNvPr id="15" name="Google Shape;15;p11"/>
          <p:cNvSpPr txBox="1"/>
          <p:nvPr/>
        </p:nvSpPr>
        <p:spPr>
          <a:xfrm>
            <a:off x="0" y="2438400"/>
            <a:ext cx="9144000" cy="2678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LUẬN VĂN TỐT NGHIỆP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nhập tên đề tài vào đây (chọn View-&gt; master view-&gt;…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GVHD: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SV: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MSSV:</a:t>
            </a:r>
            <a:endParaRPr/>
          </a:p>
        </p:txBody>
      </p:sp>
      <p:pic>
        <p:nvPicPr>
          <p:cNvPr id="16" name="Google Shape;16;p1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391400" y="179387"/>
            <a:ext cx="1716087" cy="156051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11"/>
          <p:cNvSpPr txBox="1"/>
          <p:nvPr>
            <p:ph idx="12" type="sldNum"/>
          </p:nvPr>
        </p:nvSpPr>
        <p:spPr>
          <a:xfrm>
            <a:off x="0" y="6610350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b="0" i="0" sz="10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b="0" i="0" sz="10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b="0" i="0" sz="10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b="0" i="0" sz="10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b="0" i="0" sz="10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b="0" i="0" sz="10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b="0" i="0" sz="10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b="0" i="0" sz="10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b="0" i="0" sz="10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_hcmut" id="23" name="Google Shape;23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838200" cy="838200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>
                <a:alpha val="20784"/>
              </a:srgbClr>
            </a:outerShdw>
          </a:effectLst>
        </p:spPr>
      </p:pic>
      <p:sp>
        <p:nvSpPr>
          <p:cNvPr id="24" name="Google Shape;24;p13"/>
          <p:cNvSpPr txBox="1"/>
          <p:nvPr/>
        </p:nvSpPr>
        <p:spPr>
          <a:xfrm>
            <a:off x="3759200" y="6477000"/>
            <a:ext cx="1524000" cy="338137"/>
          </a:xfrm>
          <a:prstGeom prst="rect">
            <a:avLst/>
          </a:prstGeom>
          <a:noFill/>
          <a:ln>
            <a:noFill/>
          </a:ln>
          <a:effectLst>
            <a:outerShdw blurRad="63500" dir="2700000" dist="17960">
              <a:srgbClr val="2F4D7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Họ và tên SV</a:t>
            </a:r>
            <a:endParaRPr/>
          </a:p>
        </p:txBody>
      </p:sp>
      <p:cxnSp>
        <p:nvCxnSpPr>
          <p:cNvPr id="25" name="Google Shape;25;p13"/>
          <p:cNvCxnSpPr/>
          <p:nvPr/>
        </p:nvCxnSpPr>
        <p:spPr>
          <a:xfrm>
            <a:off x="152400" y="990600"/>
            <a:ext cx="8839200" cy="0"/>
          </a:xfrm>
          <a:prstGeom prst="straightConnector1">
            <a:avLst/>
          </a:prstGeom>
          <a:noFill/>
          <a:ln cap="flat" cmpd="sng" w="50800">
            <a:solidFill>
              <a:srgbClr val="0070C0"/>
            </a:solidFill>
            <a:prstDash val="solid"/>
            <a:bevel/>
            <a:headEnd len="med" w="med" type="diamond"/>
            <a:tailEnd len="med" w="med" type="none"/>
          </a:ln>
        </p:spPr>
      </p:cxnSp>
      <p:sp>
        <p:nvSpPr>
          <p:cNvPr id="26" name="Google Shape;26;p13"/>
          <p:cNvSpPr txBox="1"/>
          <p:nvPr/>
        </p:nvSpPr>
        <p:spPr>
          <a:xfrm>
            <a:off x="152400" y="6519862"/>
            <a:ext cx="3124200" cy="338137"/>
          </a:xfrm>
          <a:prstGeom prst="rect">
            <a:avLst/>
          </a:prstGeom>
          <a:noFill/>
          <a:ln>
            <a:noFill/>
          </a:ln>
          <a:effectLst>
            <a:outerShdw blurRad="63500" dir="2700000" dist="17960">
              <a:srgbClr val="2F4D7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Bộ môn Kỹ Thuật Điện Tử-LVTN</a:t>
            </a:r>
            <a:endParaRPr/>
          </a:p>
        </p:txBody>
      </p:sp>
      <p:sp>
        <p:nvSpPr>
          <p:cNvPr id="27" name="Google Shape;27;p13"/>
          <p:cNvSpPr txBox="1"/>
          <p:nvPr/>
        </p:nvSpPr>
        <p:spPr>
          <a:xfrm>
            <a:off x="5900737" y="6454775"/>
            <a:ext cx="2743200" cy="338137"/>
          </a:xfrm>
          <a:prstGeom prst="rect">
            <a:avLst/>
          </a:prstGeom>
          <a:noFill/>
          <a:ln>
            <a:noFill/>
          </a:ln>
          <a:effectLst>
            <a:outerShdw blurRad="63500" dir="2700000" dist="17960">
              <a:srgbClr val="2F4D7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Ngày tháng năm bảo vệ</a:t>
            </a:r>
            <a:endParaRPr/>
          </a:p>
        </p:txBody>
      </p:sp>
      <p:sp>
        <p:nvSpPr>
          <p:cNvPr id="28" name="Google Shape;28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E9EFF"/>
            </a:gs>
            <a:gs pos="39999">
              <a:srgbClr val="85C2FF"/>
            </a:gs>
            <a:gs pos="69999">
              <a:srgbClr val="C4D6EB"/>
            </a:gs>
            <a:gs pos="100000">
              <a:srgbClr val="FFEBFA"/>
            </a:gs>
          </a:gsLst>
          <a:lin ang="2700000" scaled="0"/>
        </a:gra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5"/>
          <p:cNvSpPr txBox="1"/>
          <p:nvPr>
            <p:ph idx="12" type="sldNum"/>
          </p:nvPr>
        </p:nvSpPr>
        <p:spPr>
          <a:xfrm>
            <a:off x="7086600" y="65532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1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E9EFF"/>
            </a:gs>
            <a:gs pos="39999">
              <a:srgbClr val="85C2FF"/>
            </a:gs>
            <a:gs pos="69999">
              <a:srgbClr val="C4D6EB"/>
            </a:gs>
            <a:gs pos="100000">
              <a:srgbClr val="FFEBFA"/>
            </a:gs>
          </a:gsLst>
          <a:lin ang="2700000" scaled="0"/>
        </a:gra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/>
          <p:nvPr/>
        </p:nvSpPr>
        <p:spPr>
          <a:xfrm>
            <a:off x="0" y="381000"/>
            <a:ext cx="9131300" cy="914400"/>
          </a:xfrm>
          <a:custGeom>
            <a:rect b="b" l="l" r="r" t="t"/>
            <a:pathLst>
              <a:path extrusionOk="0" h="444" w="5752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HBK" id="114" name="Google Shape;114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393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7"/>
          <p:cNvSpPr/>
          <p:nvPr/>
        </p:nvSpPr>
        <p:spPr>
          <a:xfrm>
            <a:off x="0" y="6346825"/>
            <a:ext cx="9131300" cy="511175"/>
          </a:xfrm>
          <a:custGeom>
            <a:rect b="b" l="l" r="r" t="t"/>
            <a:pathLst>
              <a:path extrusionOk="0" h="444" w="5752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7"/>
          <p:cNvSpPr/>
          <p:nvPr/>
        </p:nvSpPr>
        <p:spPr>
          <a:xfrm>
            <a:off x="0" y="0"/>
            <a:ext cx="9153525" cy="1600200"/>
          </a:xfrm>
          <a:custGeom>
            <a:rect b="b" l="l" r="r" t="t"/>
            <a:pathLst>
              <a:path extrusionOk="0" h="1008" w="5766">
                <a:moveTo>
                  <a:pt x="0" y="1008"/>
                </a:moveTo>
                <a:lnTo>
                  <a:pt x="1884" y="1008"/>
                </a:lnTo>
                <a:cubicBezTo>
                  <a:pt x="2088" y="990"/>
                  <a:pt x="2034" y="1005"/>
                  <a:pt x="2152" y="921"/>
                </a:cubicBezTo>
                <a:lnTo>
                  <a:pt x="2560" y="531"/>
                </a:lnTo>
                <a:cubicBezTo>
                  <a:pt x="2683" y="452"/>
                  <a:pt x="2611" y="454"/>
                  <a:pt x="2892" y="448"/>
                </a:cubicBezTo>
                <a:lnTo>
                  <a:pt x="5766" y="461"/>
                </a:lnTo>
                <a:lnTo>
                  <a:pt x="5758" y="0"/>
                </a:lnTo>
                <a:lnTo>
                  <a:pt x="0" y="2"/>
                </a:lnTo>
                <a:lnTo>
                  <a:pt x="0" y="1008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7"/>
          <p:cNvSpPr/>
          <p:nvPr/>
        </p:nvSpPr>
        <p:spPr>
          <a:xfrm>
            <a:off x="0" y="0"/>
            <a:ext cx="9170988" cy="1362075"/>
          </a:xfrm>
          <a:custGeom>
            <a:rect b="b" l="l" r="r" t="t"/>
            <a:pathLst>
              <a:path extrusionOk="0" h="858" w="5777">
                <a:moveTo>
                  <a:pt x="0" y="858"/>
                </a:moveTo>
                <a:lnTo>
                  <a:pt x="1926" y="857"/>
                </a:lnTo>
                <a:cubicBezTo>
                  <a:pt x="2067" y="857"/>
                  <a:pt x="2068" y="850"/>
                  <a:pt x="2157" y="793"/>
                </a:cubicBezTo>
                <a:lnTo>
                  <a:pt x="2509" y="473"/>
                </a:lnTo>
                <a:cubicBezTo>
                  <a:pt x="2644" y="406"/>
                  <a:pt x="2477" y="396"/>
                  <a:pt x="2970" y="390"/>
                </a:cubicBezTo>
                <a:lnTo>
                  <a:pt x="5773" y="388"/>
                </a:lnTo>
                <a:lnTo>
                  <a:pt x="5777" y="0"/>
                </a:lnTo>
                <a:lnTo>
                  <a:pt x="0" y="2"/>
                </a:lnTo>
                <a:lnTo>
                  <a:pt x="0" y="858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7"/>
          <p:cNvSpPr/>
          <p:nvPr/>
        </p:nvSpPr>
        <p:spPr>
          <a:xfrm>
            <a:off x="0" y="4373562"/>
            <a:ext cx="9131300" cy="1036637"/>
          </a:xfrm>
          <a:custGeom>
            <a:rect b="b" l="l" r="r" t="t"/>
            <a:pathLst>
              <a:path extrusionOk="0" h="444" w="5752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_hcmut" id="119" name="Google Shape;11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1900" y="0"/>
            <a:ext cx="1562100" cy="1562100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>
                <a:alpha val="20784"/>
              </a:srgbClr>
            </a:outerShdw>
          </a:effectLst>
        </p:spPr>
      </p:pic>
      <p:sp>
        <p:nvSpPr>
          <p:cNvPr id="120" name="Google Shape;120;p27"/>
          <p:cNvSpPr txBox="1"/>
          <p:nvPr/>
        </p:nvSpPr>
        <p:spPr>
          <a:xfrm>
            <a:off x="0" y="4343400"/>
            <a:ext cx="9326562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Tầm nhìn-Sứ mạng-Mục tiêu-Nhiệm vụ (VMGO)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Bộ môn Điện Tử</a:t>
            </a:r>
            <a:endParaRPr/>
          </a:p>
        </p:txBody>
      </p:sp>
      <p:sp>
        <p:nvSpPr>
          <p:cNvPr id="121" name="Google Shape;121;p27"/>
          <p:cNvSpPr txBox="1"/>
          <p:nvPr/>
        </p:nvSpPr>
        <p:spPr>
          <a:xfrm>
            <a:off x="3352800" y="6096000"/>
            <a:ext cx="28956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3390900" y="6453187"/>
            <a:ext cx="28956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6ACB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2F6ACB"/>
                </a:solidFill>
                <a:latin typeface="Arial"/>
                <a:ea typeface="Arial"/>
                <a:cs typeface="Arial"/>
                <a:sym typeface="Arial"/>
              </a:rPr>
              <a:t>TP.Hồ Chí Minh  09/2011</a:t>
            </a:r>
            <a:endParaRPr/>
          </a:p>
        </p:txBody>
      </p:sp>
      <p:sp>
        <p:nvSpPr>
          <p:cNvPr id="123" name="Google Shape;123;p27"/>
          <p:cNvSpPr txBox="1"/>
          <p:nvPr/>
        </p:nvSpPr>
        <p:spPr>
          <a:xfrm>
            <a:off x="2971800" y="5791200"/>
            <a:ext cx="30480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Hoàng Trang</a:t>
            </a:r>
            <a:endParaRPr/>
          </a:p>
        </p:txBody>
      </p:sp>
      <p:sp>
        <p:nvSpPr>
          <p:cNvPr id="124" name="Google Shape;124;p27"/>
          <p:cNvSpPr txBox="1"/>
          <p:nvPr>
            <p:ph type="title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2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27"/>
          <p:cNvSpPr txBox="1"/>
          <p:nvPr>
            <p:ph idx="12" type="sldNum"/>
          </p:nvPr>
        </p:nvSpPr>
        <p:spPr>
          <a:xfrm>
            <a:off x="0" y="6610350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4"/>
  </p:sldLayoutIdLs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E9EFF"/>
            </a:gs>
            <a:gs pos="39999">
              <a:srgbClr val="85C2FF"/>
            </a:gs>
            <a:gs pos="69999">
              <a:srgbClr val="C4D6EB"/>
            </a:gs>
            <a:gs pos="100000">
              <a:srgbClr val="FFEBFA"/>
            </a:gs>
          </a:gsLst>
          <a:lin ang="2700000" scaled="0"/>
        </a:gra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/>
          <p:nvPr/>
        </p:nvSpPr>
        <p:spPr>
          <a:xfrm>
            <a:off x="0" y="76200"/>
            <a:ext cx="9131300" cy="1219200"/>
          </a:xfrm>
          <a:custGeom>
            <a:rect b="b" l="l" r="r" t="t"/>
            <a:pathLst>
              <a:path extrusionOk="0" h="444" w="5752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inh3.png" id="131" name="Google Shape;131;p2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hcmut" id="132" name="Google Shape;132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838200" cy="838200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>
                <a:alpha val="20784"/>
              </a:srgbClr>
            </a:outerShdw>
          </a:effectLst>
        </p:spPr>
      </p:pic>
      <p:sp>
        <p:nvSpPr>
          <p:cNvPr id="133" name="Google Shape;133;p29"/>
          <p:cNvSpPr txBox="1"/>
          <p:nvPr/>
        </p:nvSpPr>
        <p:spPr>
          <a:xfrm>
            <a:off x="4114800" y="6597650"/>
            <a:ext cx="914400" cy="336550"/>
          </a:xfrm>
          <a:prstGeom prst="rect">
            <a:avLst/>
          </a:prstGeom>
          <a:noFill/>
          <a:ln>
            <a:noFill/>
          </a:ln>
          <a:effectLst>
            <a:outerShdw blurRad="63500" dir="2700000" dist="17960">
              <a:srgbClr val="853A55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4805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rgbClr val="DD4805"/>
                </a:solidFill>
                <a:latin typeface="Arial"/>
                <a:ea typeface="Arial"/>
                <a:cs typeface="Arial"/>
                <a:sym typeface="Arial"/>
              </a:rPr>
              <a:t>09/2011</a:t>
            </a:r>
            <a:endParaRPr/>
          </a:p>
        </p:txBody>
      </p:sp>
      <p:sp>
        <p:nvSpPr>
          <p:cNvPr id="134" name="Google Shape;134;p29"/>
          <p:cNvSpPr txBox="1"/>
          <p:nvPr>
            <p:ph type="title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5" name="Google Shape;135;p2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6" name="Google Shape;136;p29"/>
          <p:cNvSpPr txBox="1"/>
          <p:nvPr>
            <p:ph idx="12" type="sldNum"/>
          </p:nvPr>
        </p:nvSpPr>
        <p:spPr>
          <a:xfrm>
            <a:off x="7086600" y="65532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E9EFF"/>
            </a:gs>
            <a:gs pos="39999">
              <a:srgbClr val="85C2FF"/>
            </a:gs>
            <a:gs pos="69999">
              <a:srgbClr val="C4D6EB"/>
            </a:gs>
            <a:gs pos="100000">
              <a:srgbClr val="FFEBFA"/>
            </a:gs>
          </a:gsLst>
          <a:lin ang="2700000" scaled="0"/>
        </a:gra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1"/>
          <p:cNvSpPr/>
          <p:nvPr/>
        </p:nvSpPr>
        <p:spPr>
          <a:xfrm>
            <a:off x="0" y="381000"/>
            <a:ext cx="9131300" cy="914400"/>
          </a:xfrm>
          <a:custGeom>
            <a:rect b="b" l="l" r="r" t="t"/>
            <a:pathLst>
              <a:path extrusionOk="0" h="444" w="5752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HBK" id="143" name="Google Shape;143;p3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393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31"/>
          <p:cNvSpPr/>
          <p:nvPr/>
        </p:nvSpPr>
        <p:spPr>
          <a:xfrm>
            <a:off x="0" y="6346825"/>
            <a:ext cx="9131300" cy="511175"/>
          </a:xfrm>
          <a:custGeom>
            <a:rect b="b" l="l" r="r" t="t"/>
            <a:pathLst>
              <a:path extrusionOk="0" h="444" w="5752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1"/>
          <p:cNvSpPr/>
          <p:nvPr/>
        </p:nvSpPr>
        <p:spPr>
          <a:xfrm>
            <a:off x="0" y="0"/>
            <a:ext cx="9153525" cy="1600200"/>
          </a:xfrm>
          <a:custGeom>
            <a:rect b="b" l="l" r="r" t="t"/>
            <a:pathLst>
              <a:path extrusionOk="0" h="1008" w="5766">
                <a:moveTo>
                  <a:pt x="0" y="1008"/>
                </a:moveTo>
                <a:lnTo>
                  <a:pt x="1884" y="1008"/>
                </a:lnTo>
                <a:cubicBezTo>
                  <a:pt x="2088" y="990"/>
                  <a:pt x="2034" y="1005"/>
                  <a:pt x="2152" y="921"/>
                </a:cubicBezTo>
                <a:lnTo>
                  <a:pt x="2560" y="531"/>
                </a:lnTo>
                <a:cubicBezTo>
                  <a:pt x="2683" y="452"/>
                  <a:pt x="2611" y="454"/>
                  <a:pt x="2892" y="448"/>
                </a:cubicBezTo>
                <a:lnTo>
                  <a:pt x="5766" y="461"/>
                </a:lnTo>
                <a:lnTo>
                  <a:pt x="5758" y="0"/>
                </a:lnTo>
                <a:lnTo>
                  <a:pt x="0" y="2"/>
                </a:lnTo>
                <a:lnTo>
                  <a:pt x="0" y="1008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1"/>
          <p:cNvSpPr/>
          <p:nvPr/>
        </p:nvSpPr>
        <p:spPr>
          <a:xfrm>
            <a:off x="0" y="0"/>
            <a:ext cx="9170988" cy="1362075"/>
          </a:xfrm>
          <a:custGeom>
            <a:rect b="b" l="l" r="r" t="t"/>
            <a:pathLst>
              <a:path extrusionOk="0" h="858" w="5777">
                <a:moveTo>
                  <a:pt x="0" y="858"/>
                </a:moveTo>
                <a:lnTo>
                  <a:pt x="1926" y="857"/>
                </a:lnTo>
                <a:cubicBezTo>
                  <a:pt x="2067" y="857"/>
                  <a:pt x="2068" y="850"/>
                  <a:pt x="2157" y="793"/>
                </a:cubicBezTo>
                <a:lnTo>
                  <a:pt x="2509" y="473"/>
                </a:lnTo>
                <a:cubicBezTo>
                  <a:pt x="2644" y="406"/>
                  <a:pt x="2477" y="396"/>
                  <a:pt x="2970" y="390"/>
                </a:cubicBezTo>
                <a:lnTo>
                  <a:pt x="5773" y="388"/>
                </a:lnTo>
                <a:lnTo>
                  <a:pt x="5777" y="0"/>
                </a:lnTo>
                <a:lnTo>
                  <a:pt x="0" y="2"/>
                </a:lnTo>
                <a:lnTo>
                  <a:pt x="0" y="858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1"/>
          <p:cNvSpPr/>
          <p:nvPr/>
        </p:nvSpPr>
        <p:spPr>
          <a:xfrm>
            <a:off x="0" y="4373562"/>
            <a:ext cx="9131300" cy="1036637"/>
          </a:xfrm>
          <a:custGeom>
            <a:rect b="b" l="l" r="r" t="t"/>
            <a:pathLst>
              <a:path extrusionOk="0" h="444" w="5752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_hcmut" id="148" name="Google Shape;14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1900" y="0"/>
            <a:ext cx="1562100" cy="1562100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>
                <a:alpha val="20784"/>
              </a:srgbClr>
            </a:outerShdw>
          </a:effectLst>
        </p:spPr>
      </p:pic>
      <p:sp>
        <p:nvSpPr>
          <p:cNvPr id="149" name="Google Shape;149;p31"/>
          <p:cNvSpPr txBox="1"/>
          <p:nvPr/>
        </p:nvSpPr>
        <p:spPr>
          <a:xfrm>
            <a:off x="0" y="4343400"/>
            <a:ext cx="9326562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Tầm nhìn-Sứ mạng-Mục tiêu-Nhiệm vụ (VMGO)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Bộ môn Điện Tử</a:t>
            </a:r>
            <a:endParaRPr/>
          </a:p>
        </p:txBody>
      </p:sp>
      <p:sp>
        <p:nvSpPr>
          <p:cNvPr id="150" name="Google Shape;150;p31"/>
          <p:cNvSpPr txBox="1"/>
          <p:nvPr/>
        </p:nvSpPr>
        <p:spPr>
          <a:xfrm>
            <a:off x="3352800" y="6096000"/>
            <a:ext cx="28956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1"/>
          <p:cNvSpPr txBox="1"/>
          <p:nvPr/>
        </p:nvSpPr>
        <p:spPr>
          <a:xfrm>
            <a:off x="3390900" y="6453187"/>
            <a:ext cx="28956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6ACB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2F6ACB"/>
                </a:solidFill>
                <a:latin typeface="Arial"/>
                <a:ea typeface="Arial"/>
                <a:cs typeface="Arial"/>
                <a:sym typeface="Arial"/>
              </a:rPr>
              <a:t>TP.Hồ Chí Minh  09/2011</a:t>
            </a:r>
            <a:endParaRPr/>
          </a:p>
        </p:txBody>
      </p:sp>
      <p:sp>
        <p:nvSpPr>
          <p:cNvPr id="152" name="Google Shape;152;p31"/>
          <p:cNvSpPr txBox="1"/>
          <p:nvPr/>
        </p:nvSpPr>
        <p:spPr>
          <a:xfrm>
            <a:off x="2971800" y="5791200"/>
            <a:ext cx="30480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Hoàng Trang</a:t>
            </a:r>
            <a:endParaRPr/>
          </a:p>
        </p:txBody>
      </p:sp>
      <p:sp>
        <p:nvSpPr>
          <p:cNvPr id="153" name="Google Shape;153;p31"/>
          <p:cNvSpPr txBox="1"/>
          <p:nvPr>
            <p:ph type="title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4" name="Google Shape;154;p3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5" name="Google Shape;155;p31"/>
          <p:cNvSpPr txBox="1"/>
          <p:nvPr>
            <p:ph idx="12" type="sldNum"/>
          </p:nvPr>
        </p:nvSpPr>
        <p:spPr>
          <a:xfrm>
            <a:off x="0" y="6610350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4"/>
  </p:sldLayoutIdLs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"/>
          <p:cNvSpPr txBox="1"/>
          <p:nvPr/>
        </p:nvSpPr>
        <p:spPr>
          <a:xfrm>
            <a:off x="0" y="6610350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3" name="Google Shape;163;p1"/>
          <p:cNvSpPr txBox="1"/>
          <p:nvPr/>
        </p:nvSpPr>
        <p:spPr>
          <a:xfrm>
            <a:off x="0" y="6610350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4" name="Google Shape;164;p1"/>
          <p:cNvSpPr txBox="1"/>
          <p:nvPr>
            <p:ph idx="12" type="sldNum"/>
          </p:nvPr>
        </p:nvSpPr>
        <p:spPr>
          <a:xfrm>
            <a:off x="0" y="6610350"/>
            <a:ext cx="381000" cy="247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"/>
          <p:cNvSpPr txBox="1"/>
          <p:nvPr>
            <p:ph type="title"/>
          </p:nvPr>
        </p:nvSpPr>
        <p:spPr>
          <a:xfrm>
            <a:off x="685800" y="274638"/>
            <a:ext cx="8001000" cy="7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Nội dung</a:t>
            </a:r>
            <a:endParaRPr/>
          </a:p>
        </p:txBody>
      </p:sp>
      <p:sp>
        <p:nvSpPr>
          <p:cNvPr id="170" name="Google Shape;170;p2"/>
          <p:cNvSpPr txBox="1"/>
          <p:nvPr>
            <p:ph idx="1" type="body"/>
          </p:nvPr>
        </p:nvSpPr>
        <p:spPr>
          <a:xfrm>
            <a:off x="685800" y="990600"/>
            <a:ext cx="8001000" cy="51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Giới thiệu tổng qua</a:t>
            </a:r>
            <a:r>
              <a:rPr lang="en-US"/>
              <a:t>n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Nhiệm vụ đề tài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Đặc tả hệ thố</a:t>
            </a:r>
            <a:r>
              <a:rPr lang="en-US"/>
              <a:t>ng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Thiết kế phần 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Phát triển phần mềm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Kết quả hiện thực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Kết luận và hướng ph</a:t>
            </a:r>
            <a:r>
              <a:rPr lang="en-US"/>
              <a:t>cứng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át triển</a:t>
            </a:r>
            <a:endParaRPr/>
          </a:p>
          <a:p>
            <a:pPr indent="-3111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"/>
          <p:cNvSpPr txBox="1"/>
          <p:nvPr/>
        </p:nvSpPr>
        <p:spPr>
          <a:xfrm>
            <a:off x="457200" y="62274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172" name="Google Shape;172;p2"/>
          <p:cNvSpPr txBox="1"/>
          <p:nvPr/>
        </p:nvSpPr>
        <p:spPr>
          <a:xfrm>
            <a:off x="1879150" y="710520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"/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74" name="Google Shape;174;p2"/>
          <p:cNvSpPr txBox="1"/>
          <p:nvPr>
            <p:ph idx="12" type="sldNum"/>
          </p:nvPr>
        </p:nvSpPr>
        <p:spPr>
          <a:xfrm>
            <a:off x="7010400" y="64928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/>
          <p:cNvSpPr txBox="1"/>
          <p:nvPr>
            <p:ph type="title"/>
          </p:nvPr>
        </p:nvSpPr>
        <p:spPr>
          <a:xfrm>
            <a:off x="893762" y="288925"/>
            <a:ext cx="6573837" cy="674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1. Giới thiệu tổng qua</a:t>
            </a:r>
            <a:r>
              <a:rPr b="1" i="0" lang="en-US" sz="4000" u="none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</p:txBody>
      </p:sp>
      <p:sp>
        <p:nvSpPr>
          <p:cNvPr id="180" name="Google Shape;180;p3"/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1" name="Google Shape;181;p3"/>
          <p:cNvSpPr txBox="1"/>
          <p:nvPr/>
        </p:nvSpPr>
        <p:spPr>
          <a:xfrm>
            <a:off x="457200" y="1752600"/>
            <a:ext cx="78486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Trình bày tổng quan đề tài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Các đề tài, công trình khác liên quan, giống, gần giống luận văn này hoặc tham khảo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"/>
          <p:cNvSpPr txBox="1"/>
          <p:nvPr>
            <p:ph type="title"/>
          </p:nvPr>
        </p:nvSpPr>
        <p:spPr>
          <a:xfrm>
            <a:off x="893762" y="288925"/>
            <a:ext cx="4953000" cy="674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2. Nhiệm vụ đề tài</a:t>
            </a:r>
            <a:endParaRPr/>
          </a:p>
        </p:txBody>
      </p:sp>
      <p:sp>
        <p:nvSpPr>
          <p:cNvPr id="187" name="Google Shape;187;p4"/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8" name="Google Shape;188;p4"/>
          <p:cNvSpPr txBox="1"/>
          <p:nvPr/>
        </p:nvSpPr>
        <p:spPr>
          <a:xfrm>
            <a:off x="457200" y="1752600"/>
            <a:ext cx="6096000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 công việc, nhiệm vụ cần giải quyết để thực hiện hoàn thành luận văn (1 slide)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"/>
          <p:cNvSpPr txBox="1"/>
          <p:nvPr>
            <p:ph type="title"/>
          </p:nvPr>
        </p:nvSpPr>
        <p:spPr>
          <a:xfrm>
            <a:off x="893762" y="288925"/>
            <a:ext cx="8250237" cy="674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3. Đặc tả hệ thống</a:t>
            </a:r>
            <a:endParaRPr/>
          </a:p>
        </p:txBody>
      </p:sp>
      <p:sp>
        <p:nvSpPr>
          <p:cNvPr id="194" name="Google Shape;194;p5"/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5" name="Google Shape;195;p5"/>
          <p:cNvSpPr txBox="1"/>
          <p:nvPr/>
        </p:nvSpPr>
        <p:spPr>
          <a:xfrm>
            <a:off x="457200" y="2057400"/>
            <a:ext cx="8382000" cy="2678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Mô tả các đặc tính của hệ thống cần thiết kế theo nhiệm vụ luận văn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Yêu cầu thiết kế,….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Vẽ sơ đồ khối hệ thống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 giới hạn, ràng buộc của hệ thống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Mô tả nguyên lý hoạt động của hệ thống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…..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"/>
          <p:cNvSpPr txBox="1"/>
          <p:nvPr>
            <p:ph type="title"/>
          </p:nvPr>
        </p:nvSpPr>
        <p:spPr>
          <a:xfrm>
            <a:off x="893762" y="288925"/>
            <a:ext cx="8250237" cy="674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3. Thiết kế phần cứng</a:t>
            </a:r>
            <a:endParaRPr/>
          </a:p>
        </p:txBody>
      </p:sp>
      <p:sp>
        <p:nvSpPr>
          <p:cNvPr id="201" name="Google Shape;201;p6"/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02" name="Google Shape;202;p6"/>
          <p:cNvSpPr txBox="1"/>
          <p:nvPr/>
        </p:nvSpPr>
        <p:spPr>
          <a:xfrm>
            <a:off x="950900" y="2475975"/>
            <a:ext cx="8382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Trình bày sơ đồ khối, sơ đồ chi tiết phần cứng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Phân tích thiết kế phần cứng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Tính toán các thông số phần cứng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"/>
          <p:cNvSpPr txBox="1"/>
          <p:nvPr>
            <p:ph type="title"/>
          </p:nvPr>
        </p:nvSpPr>
        <p:spPr>
          <a:xfrm>
            <a:off x="893762" y="288925"/>
            <a:ext cx="8250237" cy="674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4. Phát triển phần mềm</a:t>
            </a:r>
            <a:endParaRPr/>
          </a:p>
        </p:txBody>
      </p:sp>
      <p:sp>
        <p:nvSpPr>
          <p:cNvPr id="208" name="Google Shape;208;p7"/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09" name="Google Shape;209;p7"/>
          <p:cNvSpPr txBox="1"/>
          <p:nvPr/>
        </p:nvSpPr>
        <p:spPr>
          <a:xfrm>
            <a:off x="457200" y="2057400"/>
            <a:ext cx="8382000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Phân tích, giải thích sơ đồ giải thuật, phần cứng, phần mềm, …..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"/>
          <p:cNvSpPr txBox="1"/>
          <p:nvPr>
            <p:ph type="title"/>
          </p:nvPr>
        </p:nvSpPr>
        <p:spPr>
          <a:xfrm>
            <a:off x="893762" y="288925"/>
            <a:ext cx="6269037" cy="674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Kết quả</a:t>
            </a:r>
            <a:endParaRPr/>
          </a:p>
        </p:txBody>
      </p:sp>
      <p:sp>
        <p:nvSpPr>
          <p:cNvPr id="215" name="Google Shape;215;p8"/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6" name="Google Shape;216;p8"/>
          <p:cNvSpPr txBox="1"/>
          <p:nvPr/>
        </p:nvSpPr>
        <p:spPr>
          <a:xfrm>
            <a:off x="457200" y="1752600"/>
            <a:ext cx="8305800" cy="4032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Cách thức đo đạc, thử nghiệm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Số liệu đo đạc thu được dưới hình thức bảng biểu, đồ thị …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Giải thích và bàn bạc về kết quả thu được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 các bảng biểu, đồ thị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Chú ý: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- money slide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- bình luận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"/>
          <p:cNvSpPr txBox="1"/>
          <p:nvPr>
            <p:ph type="title"/>
          </p:nvPr>
        </p:nvSpPr>
        <p:spPr>
          <a:xfrm>
            <a:off x="893762" y="288925"/>
            <a:ext cx="7640637" cy="674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Kết luận, hướng phát triển</a:t>
            </a:r>
            <a:endParaRPr/>
          </a:p>
        </p:txBody>
      </p:sp>
      <p:sp>
        <p:nvSpPr>
          <p:cNvPr id="222" name="Google Shape;222;p9"/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"/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28" name="Google Shape;228;p10"/>
          <p:cNvSpPr txBox="1"/>
          <p:nvPr/>
        </p:nvSpPr>
        <p:spPr>
          <a:xfrm>
            <a:off x="0" y="838200"/>
            <a:ext cx="9144000" cy="45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0"/>
          <p:cNvSpPr txBox="1"/>
          <p:nvPr/>
        </p:nvSpPr>
        <p:spPr>
          <a:xfrm>
            <a:off x="1905000" y="2362200"/>
            <a:ext cx="6553200" cy="1570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9600"/>
              <a:buFont typeface="Arial"/>
              <a:buNone/>
            </a:pPr>
            <a:r>
              <a:rPr b="1" i="0" lang="en-US" sz="9600" u="none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CẢM ƠN…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3_Hoang Trang'course format">
  <a:themeElements>
    <a:clrScheme name="Default Design 1">
      <a:dk1>
        <a:srgbClr val="000000"/>
      </a:dk1>
      <a:lt1>
        <a:srgbClr val="CAD4CF"/>
      </a:lt1>
      <a:dk2>
        <a:srgbClr val="425462"/>
      </a:dk2>
      <a:lt2>
        <a:srgbClr val="768A7B"/>
      </a:lt2>
      <a:accent1>
        <a:srgbClr val="DE608D"/>
      </a:accent1>
      <a:accent2>
        <a:srgbClr val="35ADE3"/>
      </a:accent2>
      <a:accent3>
        <a:srgbClr val="E1E6E4"/>
      </a:accent3>
      <a:accent4>
        <a:srgbClr val="000000"/>
      </a:accent4>
      <a:accent5>
        <a:srgbClr val="ECB6C5"/>
      </a:accent5>
      <a:accent6>
        <a:srgbClr val="2F9CCE"/>
      </a:accent6>
      <a:hlink>
        <a:srgbClr val="F6AE44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4_Hoang Trang'course format">
  <a:themeElements>
    <a:clrScheme name="Default Design 1">
      <a:dk1>
        <a:srgbClr val="000000"/>
      </a:dk1>
      <a:lt1>
        <a:srgbClr val="CAD4CF"/>
      </a:lt1>
      <a:dk2>
        <a:srgbClr val="425462"/>
      </a:dk2>
      <a:lt2>
        <a:srgbClr val="768A7B"/>
      </a:lt2>
      <a:accent1>
        <a:srgbClr val="DE608D"/>
      </a:accent1>
      <a:accent2>
        <a:srgbClr val="35ADE3"/>
      </a:accent2>
      <a:accent3>
        <a:srgbClr val="E1E6E4"/>
      </a:accent3>
      <a:accent4>
        <a:srgbClr val="000000"/>
      </a:accent4>
      <a:accent5>
        <a:srgbClr val="ECB6C5"/>
      </a:accent5>
      <a:accent6>
        <a:srgbClr val="2F9CCE"/>
      </a:accent6>
      <a:hlink>
        <a:srgbClr val="F6AE44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2_Hoang Trang'course format">
  <a:themeElements>
    <a:clrScheme name="Default Design 1">
      <a:dk1>
        <a:srgbClr val="000000"/>
      </a:dk1>
      <a:lt1>
        <a:srgbClr val="CAD4CF"/>
      </a:lt1>
      <a:dk2>
        <a:srgbClr val="425462"/>
      </a:dk2>
      <a:lt2>
        <a:srgbClr val="768A7B"/>
      </a:lt2>
      <a:accent1>
        <a:srgbClr val="DE608D"/>
      </a:accent1>
      <a:accent2>
        <a:srgbClr val="35ADE3"/>
      </a:accent2>
      <a:accent3>
        <a:srgbClr val="E1E6E4"/>
      </a:accent3>
      <a:accent4>
        <a:srgbClr val="000000"/>
      </a:accent4>
      <a:accent5>
        <a:srgbClr val="ECB6C5"/>
      </a:accent5>
      <a:accent6>
        <a:srgbClr val="2F9CCE"/>
      </a:accent6>
      <a:hlink>
        <a:srgbClr val="F6AE44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1_Hoang Trang'course format">
  <a:themeElements>
    <a:clrScheme name="Default Design 1">
      <a:dk1>
        <a:srgbClr val="000000"/>
      </a:dk1>
      <a:lt1>
        <a:srgbClr val="CAD4CF"/>
      </a:lt1>
      <a:dk2>
        <a:srgbClr val="425462"/>
      </a:dk2>
      <a:lt2>
        <a:srgbClr val="768A7B"/>
      </a:lt2>
      <a:accent1>
        <a:srgbClr val="DE608D"/>
      </a:accent1>
      <a:accent2>
        <a:srgbClr val="35ADE3"/>
      </a:accent2>
      <a:accent3>
        <a:srgbClr val="E1E6E4"/>
      </a:accent3>
      <a:accent4>
        <a:srgbClr val="000000"/>
      </a:accent4>
      <a:accent5>
        <a:srgbClr val="ECB6C5"/>
      </a:accent5>
      <a:accent6>
        <a:srgbClr val="2F9CCE"/>
      </a:accent6>
      <a:hlink>
        <a:srgbClr val="F6AE44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2010-08-18T20:21:10Z</dcterms:created>
  <dc:creator>HOANG Trang</dc:creator>
</cp:coreProperties>
</file>