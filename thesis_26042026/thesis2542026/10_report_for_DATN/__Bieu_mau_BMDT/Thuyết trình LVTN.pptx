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6.xml" ContentType="application/vnd.openxmlformats-officedocument.theme+xml"/>
  <Override PartName="/ppt/slideLayouts/slideLayout35.xml" ContentType="application/vnd.openxmlformats-officedocument.presentationml.slideLayout+xml"/>
  <Override PartName="/ppt/theme/theme7.xml" ContentType="application/vnd.openxmlformats-officedocument.theme+xml"/>
  <Override PartName="/ppt/slideLayouts/slideLayout36.xml" ContentType="application/vnd.openxmlformats-officedocument.presentationml.slideLayout+xml"/>
  <Override PartName="/ppt/theme/theme8.xml" ContentType="application/vnd.openxmlformats-officedocument.theme+xml"/>
  <Override PartName="/ppt/slideLayouts/slideLayout3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70" r:id="rId2"/>
    <p:sldMasterId id="2147483682" r:id="rId3"/>
    <p:sldMasterId id="2147483650" r:id="rId4"/>
    <p:sldMasterId id="2147483652" r:id="rId5"/>
    <p:sldMasterId id="2147483653" r:id="rId6"/>
    <p:sldMasterId id="2147483664" r:id="rId7"/>
    <p:sldMasterId id="2147483666" r:id="rId8"/>
    <p:sldMasterId id="2147483668" r:id="rId9"/>
  </p:sldMasterIdLst>
  <p:notesMasterIdLst>
    <p:notesMasterId r:id="rId21"/>
  </p:notesMasterIdLst>
  <p:handoutMasterIdLst>
    <p:handoutMasterId r:id="rId22"/>
  </p:handoutMasterIdLst>
  <p:sldIdLst>
    <p:sldId id="256" r:id="rId10"/>
    <p:sldId id="26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Mm5AWPa4QUCDNpb/qbg0anxXL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68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588" y="5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customschemas.google.com/relationships/presentationmetadata" Target="metadata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77F380-12AA-E4DB-A771-0AAB91A2D9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7875F-0885-DC61-8276-C053EB095F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C79D0-B238-430B-965C-AF37D2CE379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F990C-8DC8-8DC1-0B2C-341FFBA509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31D60-B4F1-35C9-60B7-B391586A3B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20EB-662B-4DF3-AA16-97A7ABDC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024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0327110C-779F-22C9-91D0-E5449857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>
            <a:extLst>
              <a:ext uri="{FF2B5EF4-FFF2-40B4-BE49-F238E27FC236}">
                <a16:creationId xmlns:a16="http://schemas.microsoft.com/office/drawing/2014/main" id="{F083E24F-C579-A6AB-0C86-160A9B880A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>
            <a:extLst>
              <a:ext uri="{FF2B5EF4-FFF2-40B4-BE49-F238E27FC236}">
                <a16:creationId xmlns:a16="http://schemas.microsoft.com/office/drawing/2014/main" id="{A9881749-67FE-7D38-1F72-48F09199C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0226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e61bbfb93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e61bbfb93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5e61bbfb93_8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userDrawn="1">
  <p:cSld name="1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95D0-4F19-EAF2-6193-71EAF938B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0ACFE-5592-4FBD-8BF2-DDC1AAF9B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8117B-8633-C259-7F7D-CCD19D19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44995-D508-5C62-9ED4-5A8904DA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E19C2-EE6B-60A8-8FCA-ABEACAB9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5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8CEB7-3E13-6681-EEA1-A383F630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42DF0-6ED5-E866-478E-E748DA135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39B0-A3F1-3968-8AB5-72E08FEF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47688-DCF4-A3F3-FECC-282951625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3A822-E912-C241-9B8D-C3407EC2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9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799A-7FCE-58EB-425B-4EB7EC436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C4395-4BF4-FC85-7153-C5A3EDE9D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AE121-B255-8774-441F-655773C2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66E82-8664-CAEB-66EB-0A8159D8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03754-9B5C-DEB2-4426-7CE95CB3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66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9EE2-6CF9-9E64-AE29-E4714B7C7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4BA9B-09D6-4162-0795-8A679B9CB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0CD2D-C8ED-E0CD-6230-98796E317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A9D1B-A89B-1971-18E4-84D31ADE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8E472-6EEE-39EA-1F8C-01C020C6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9056C-7C29-16E0-73FB-E9534568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2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58CB-F3C2-700F-FB6E-971AA3742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03586-FCF5-7FCE-3718-3FFF8007F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B0D01-1D7D-D5E3-70E4-D3D8CE934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5F093A-EF3D-AC99-745F-B6B06A6D5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5DBB68-6D02-FF65-5703-3F2DDDEA5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CA606E-EBF1-765A-B32F-C6793235D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3644EC-6FA2-AC0A-C1F1-3FB05441E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D7C4B2-96D6-BD03-2F55-E4A06AE0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61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23FC0-1350-7359-E95F-1AE8EF5E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5E0180-5512-2D0B-E870-DBBCD96F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69BD4-DEA8-27FC-4EDE-DC170492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479C4-5DF6-BED9-F073-5E1E350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7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F9CABE-A46F-87A8-C7DE-574E02F8B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AA73D-36F5-C917-05BB-BDED26FE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645C6-16D3-C247-B4B1-FDE934B9B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06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6DDC2-1AEE-8BB1-43C1-7C5934B6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79CF-0027-E577-9018-66376F863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307CF-19CE-2136-DDD8-6AE08FD24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E1742-6FAA-AFF5-C429-7616F963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53CC1-7E9B-247C-0920-1A6B4DCB4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5DE59-476B-0385-C6D0-688BD1AE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7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1249-A17B-7DC6-860E-36C79D99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CFDEA-CCA8-6435-042A-99978F81E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9F8FF-83C7-03AC-C4C7-DE64242AA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10B9C-24BB-C29B-76E4-658088E04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865E7-4127-5024-3FCA-627D5151F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E55F9-0F46-5C5C-8CFB-F0EA8E19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3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F4C3-C930-25E4-8FFC-D53906CE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04079-6356-9DF2-5DD5-F0766BEC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EEB15-1BD3-CA23-7DE2-2DE5C286A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82526-727E-C308-72FD-8CC67E0A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ED0D2-4186-4DD8-1342-3FC9D9B5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15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B2EAB6-B925-F111-1453-5F61D9550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EB93-DA6A-D73D-B71B-128819B1E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BA4FC-A03A-5A6E-ECD6-B32250F4B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68675-D463-486B-8792-95FC9E7123C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BB40B-2C17-8E5B-E75F-1BFC41C5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7DB62-C7D7-5B66-DDE7-B80AA07E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45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D11A2-2C57-FA03-7589-50F3F8FA3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FFAA2-ECD0-933A-8411-39D339A88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FA0E6-7F10-8A01-6B37-E36741A5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90DC7-42A5-9B5D-77C5-453341D8F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A4F5-8BA0-1AE9-607F-7A01D7E8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56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36A0C-B2A8-2373-0465-DAAE754E9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384F-7483-2E9D-9B0A-7B4A15EFB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543CC-973F-3647-18F2-4EF05574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07705-E9FC-3281-E161-DF3266F61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DF4FE-1059-7C6B-319E-64E11820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76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AE79-9789-352C-1961-F8D13371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F3D91-4235-50CA-9188-9AE00F11D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3F480-EBBC-537B-694F-9EECA4FE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1E087-B0EB-64A6-EA1D-C3DED280E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9DFD0-71A4-7976-1E0D-87D80039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17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1CE5-0D84-B85C-0C22-FD425D9B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861AF-A8F2-2C54-5A46-67C8AA03C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7E77E-73F2-D09D-C463-68192FB9B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F4DC2-1129-FD64-6EA8-37B76616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62061-E9BD-220B-D93C-E9F5AC63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5D311-7A2E-AEF9-FF23-BBF10004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76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6923E-9A07-7EDE-67AE-7EBFB984A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5A04F-1E4D-1637-116E-92D97A360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BABF3-F9B8-BB6D-AFA3-76577B009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F6E96-60BC-E133-A07B-B7F339EDA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7A0D42-D60A-8F9A-4100-C9D63F5CC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AD2087-2126-019C-5014-7B182472D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3BBA41-6598-79B2-B87C-25D5A8805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C0EA60-0FB0-0B2B-6D79-30292A776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377A-33CD-BE30-9D9F-C3C09F5E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2F0F8-4630-7BC2-059B-BD568AFF5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F8C9-8E65-74D2-FD49-D689FE5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D8A7B1-7F9D-7351-C442-187AF217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077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B1F80-5832-09BD-5A1A-12C31B17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CE7A5-A30A-0E8A-92EF-504217BF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B85B4-583A-1D87-34B2-7D9CE8BFD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60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9E15-2D7F-ABBE-4931-F2140155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BAC1E-676F-4151-4753-B92AA2470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3184B-86FD-BCDD-1F4A-F56764C78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DF210-5D58-B8F8-DAE2-99A6C62B3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77535-2D06-58D1-CB93-954CA587E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26314-41D3-0BB4-946A-2E5EC81F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16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86E50-7C23-C03C-08D6-6FBE9CB0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6157D2-5FC2-C9E5-87CD-1802DCF9F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2D66A-9352-F553-DE38-8F9D043F3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20B04-66D3-FA20-5E89-2697957D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3E649-197C-5587-8A5E-D6F1FB74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B0186-72CF-9063-409C-6C87C89B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542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1CAB-C3EF-D93E-F752-643A962C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4DA5C-8322-581E-21B3-2E998F045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7F899-D408-DD92-F099-9E419067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D858E-D25A-0156-E451-9271AA83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0067C-A443-EB53-A168-ACF0531C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790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43323-4771-482E-AB65-805A35ADC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D821E-C840-A74E-E5C4-80B99C2C7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5F741-172A-A6B9-7065-FFB011FC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0BE6-514D-4B41-9222-36D44DDD9EC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3A3A5-897F-4436-0E45-5DD25558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FE3EC-9C89-9E3D-6D0A-6A71688F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670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685800" y="274638"/>
            <a:ext cx="80010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685800" y="990600"/>
            <a:ext cx="8001000" cy="51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381000" y="2667000"/>
            <a:ext cx="84012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body" idx="1"/>
          </p:nvPr>
        </p:nvSpPr>
        <p:spPr>
          <a:xfrm>
            <a:off x="0" y="990600"/>
            <a:ext cx="8437500" cy="4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40" name="Google Shape;140;p30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0" y="381000"/>
            <a:ext cx="9131300" cy="9144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/>
          <p:nvPr/>
        </p:nvSpPr>
        <p:spPr>
          <a:xfrm>
            <a:off x="0" y="6346825"/>
            <a:ext cx="9131300" cy="511175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1"/>
          <p:cNvSpPr txBox="1"/>
          <p:nvPr/>
        </p:nvSpPr>
        <p:spPr>
          <a:xfrm>
            <a:off x="-92075" y="220662"/>
            <a:ext cx="9326700" cy="14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ĐẠI HỌC QUỐC GIA TP.HỒ CHÍ MINH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TRƯỜNG ĐẠI HỌC BÁCH KHOA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KHOA ĐIỆN-ĐIỆN TỬ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272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70272"/>
                </a:solidFill>
                <a:latin typeface="Arial"/>
                <a:ea typeface="Arial"/>
                <a:cs typeface="Arial"/>
                <a:sym typeface="Arial"/>
              </a:rPr>
              <a:t>BỘ MÔN KỸ THUẬT ĐIỆN TỬ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 txBox="1"/>
          <p:nvPr/>
        </p:nvSpPr>
        <p:spPr>
          <a:xfrm>
            <a:off x="3352800" y="6096000"/>
            <a:ext cx="28956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 txBox="1"/>
          <p:nvPr/>
        </p:nvSpPr>
        <p:spPr>
          <a:xfrm>
            <a:off x="5156200" y="6514634"/>
            <a:ext cx="66294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TP.Hồ</a:t>
            </a:r>
            <a:r>
              <a:rPr lang="en-US" sz="1400" b="1" i="0" u="none" strike="noStrike" cap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 Chí Minh </a:t>
            </a:r>
            <a:r>
              <a:rPr lang="en-US" sz="1400" b="1" i="0" u="none" strike="noStrike" cap="none" dirty="0" err="1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ngày</a:t>
            </a:r>
            <a:r>
              <a:rPr lang="en-US" sz="1400" b="1" i="0" u="none" strike="noStrike" cap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 30 </a:t>
            </a:r>
            <a:r>
              <a:rPr lang="en-US" sz="1400" b="1" i="0" u="none" strike="noStrike" cap="none" dirty="0" err="1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tháng</a:t>
            </a:r>
            <a:r>
              <a:rPr lang="en-US" sz="1400" b="1" i="0" u="none" strike="noStrike" cap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 1 </a:t>
            </a:r>
            <a:r>
              <a:rPr lang="en-US" sz="1400" b="1" i="0" u="none" strike="noStrike" cap="none" dirty="0" err="1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năm</a:t>
            </a:r>
            <a:r>
              <a:rPr lang="en-US" sz="1400" b="1" i="0" u="none" strike="noStrike" cap="none" dirty="0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1"/>
          <p:cNvSpPr txBox="1"/>
          <p:nvPr/>
        </p:nvSpPr>
        <p:spPr>
          <a:xfrm>
            <a:off x="0" y="2438400"/>
            <a:ext cx="91440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LUẬN VĂN TỐT NGHIỆP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nhập tên đề tài vào đây (chọn View-&gt; master view-&gt;…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3376C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GVHD: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SV: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MSSV: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91400" y="179387"/>
            <a:ext cx="1716087" cy="15605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8" name="Google Shape;18;p11"/>
          <p:cNvSpPr txBox="1">
            <a:spLocks noGrp="1"/>
          </p:cNvSpPr>
          <p:nvPr>
            <p:ph type="body" idx="1"/>
          </p:nvPr>
        </p:nvSpPr>
        <p:spPr>
          <a:xfrm>
            <a:off x="457200" y="1585446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dirty="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4B7D8-FDF3-E7D6-1271-8206DE34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6724F-201D-4CC2-CB11-34B9AC7DC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C7326-8015-C578-9206-5E80A53A5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68675-D463-486B-8792-95FC9E7123C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B2EE7-398A-EA35-A299-BBC006731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4297-7587-37CD-ABAF-0FAF8E0BA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DE509-438F-4F77-979C-4105B24CF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72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1900A-C6E0-6717-F860-AB83D1BD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4F4DB-6A97-1519-3491-40ED04B65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66F5B-5954-93AA-0CA4-00B249DB9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A0BE6-514D-4B41-9222-36D44DDD9EC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8F533-807D-66CE-DD35-E1A930502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CFC9-0246-AEB4-22ED-50A1719A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9BB8E-D9FA-41A0-98C2-E4752320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3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3" descr="Logo_hcmu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838200" cy="8382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0390"/>
              </a:srgbClr>
            </a:outerShdw>
          </a:effectLst>
        </p:spPr>
      </p:pic>
      <p:sp>
        <p:nvSpPr>
          <p:cNvPr id="24" name="Google Shape;24;p13"/>
          <p:cNvSpPr txBox="1"/>
          <p:nvPr/>
        </p:nvSpPr>
        <p:spPr>
          <a:xfrm>
            <a:off x="3759200" y="6477000"/>
            <a:ext cx="1524000" cy="338100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2F4D7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Họ và tên SV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3"/>
          <p:cNvCxnSpPr/>
          <p:nvPr/>
        </p:nvCxnSpPr>
        <p:spPr>
          <a:xfrm>
            <a:off x="152400" y="990600"/>
            <a:ext cx="8839200" cy="0"/>
          </a:xfrm>
          <a:prstGeom prst="straightConnector1">
            <a:avLst/>
          </a:prstGeom>
          <a:noFill/>
          <a:ln w="50800" cap="flat" cmpd="sng">
            <a:solidFill>
              <a:srgbClr val="0070C0"/>
            </a:solidFill>
            <a:prstDash val="solid"/>
            <a:bevel/>
            <a:headEnd type="diamond" w="med" len="med"/>
            <a:tailEnd type="none" w="sm" len="sm"/>
          </a:ln>
        </p:spPr>
      </p:cxnSp>
      <p:sp>
        <p:nvSpPr>
          <p:cNvPr id="26" name="Google Shape;26;p13"/>
          <p:cNvSpPr txBox="1"/>
          <p:nvPr/>
        </p:nvSpPr>
        <p:spPr>
          <a:xfrm>
            <a:off x="152400" y="6519862"/>
            <a:ext cx="3124200" cy="338100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2F4D7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Bộ môn Kỹ Thuật Điện Tử-LVTN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3"/>
          <p:cNvSpPr txBox="1"/>
          <p:nvPr/>
        </p:nvSpPr>
        <p:spPr>
          <a:xfrm>
            <a:off x="5900737" y="6454775"/>
            <a:ext cx="2743200" cy="338100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2F4D7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Ngày tháng năm bảo vệ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40000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6" scaled="0"/>
        </a:gra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40000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6" scaled="0"/>
        </a:gra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/>
          <p:nvPr/>
        </p:nvSpPr>
        <p:spPr>
          <a:xfrm>
            <a:off x="0" y="381000"/>
            <a:ext cx="9131300" cy="9144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7" descr="DHB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7"/>
          <p:cNvSpPr/>
          <p:nvPr/>
        </p:nvSpPr>
        <p:spPr>
          <a:xfrm>
            <a:off x="0" y="6346825"/>
            <a:ext cx="9131300" cy="511175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7"/>
          <p:cNvSpPr/>
          <p:nvPr/>
        </p:nvSpPr>
        <p:spPr>
          <a:xfrm>
            <a:off x="0" y="0"/>
            <a:ext cx="9153525" cy="1600200"/>
          </a:xfrm>
          <a:custGeom>
            <a:avLst/>
            <a:gdLst/>
            <a:ahLst/>
            <a:cxnLst/>
            <a:rect l="l" t="t" r="r" b="b"/>
            <a:pathLst>
              <a:path w="5766" h="1008" extrusionOk="0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7"/>
          <p:cNvSpPr/>
          <p:nvPr/>
        </p:nvSpPr>
        <p:spPr>
          <a:xfrm>
            <a:off x="0" y="0"/>
            <a:ext cx="9170988" cy="1362075"/>
          </a:xfrm>
          <a:custGeom>
            <a:avLst/>
            <a:gdLst/>
            <a:ahLst/>
            <a:cxnLst/>
            <a:rect l="l" t="t" r="r" b="b"/>
            <a:pathLst>
              <a:path w="5777" h="858" extrusionOk="0">
                <a:moveTo>
                  <a:pt x="0" y="858"/>
                </a:moveTo>
                <a:lnTo>
                  <a:pt x="1926" y="857"/>
                </a:lnTo>
                <a:cubicBezTo>
                  <a:pt x="2067" y="857"/>
                  <a:pt x="2068" y="850"/>
                  <a:pt x="2157" y="793"/>
                </a:cubicBezTo>
                <a:lnTo>
                  <a:pt x="2509" y="473"/>
                </a:lnTo>
                <a:cubicBezTo>
                  <a:pt x="2644" y="406"/>
                  <a:pt x="2477" y="396"/>
                  <a:pt x="2970" y="390"/>
                </a:cubicBezTo>
                <a:lnTo>
                  <a:pt x="5773" y="388"/>
                </a:lnTo>
                <a:lnTo>
                  <a:pt x="5777" y="0"/>
                </a:lnTo>
                <a:lnTo>
                  <a:pt x="0" y="2"/>
                </a:lnTo>
                <a:lnTo>
                  <a:pt x="0" y="85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7"/>
          <p:cNvSpPr/>
          <p:nvPr/>
        </p:nvSpPr>
        <p:spPr>
          <a:xfrm>
            <a:off x="0" y="4373562"/>
            <a:ext cx="9131300" cy="1036637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7" descr="Logo_hcmu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81900" y="0"/>
            <a:ext cx="1562100" cy="15621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0390"/>
              </a:srgbClr>
            </a:outerShdw>
          </a:effectLst>
        </p:spPr>
      </p:pic>
      <p:sp>
        <p:nvSpPr>
          <p:cNvPr id="120" name="Google Shape;120;p27"/>
          <p:cNvSpPr txBox="1"/>
          <p:nvPr/>
        </p:nvSpPr>
        <p:spPr>
          <a:xfrm>
            <a:off x="0" y="4343400"/>
            <a:ext cx="9326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Tầm nhìn-Sứ mạng-Mục tiêu-Nhiệm vụ (VMGO)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Bộ môn Điện Tử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3352800" y="6096000"/>
            <a:ext cx="28956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3390900" y="6453187"/>
            <a:ext cx="28956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TP.Hồ Chí Minh  09/2011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7"/>
          <p:cNvSpPr txBox="1"/>
          <p:nvPr/>
        </p:nvSpPr>
        <p:spPr>
          <a:xfrm>
            <a:off x="2971800" y="5791200"/>
            <a:ext cx="3048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Hoàng Trang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7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6" name="Google Shape;126;p27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40000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6" scaled="0"/>
        </a:gra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/>
          <p:nvPr/>
        </p:nvSpPr>
        <p:spPr>
          <a:xfrm>
            <a:off x="0" y="76200"/>
            <a:ext cx="9131300" cy="12192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9" descr="hinh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9" descr="Logo_hcmu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838200" cy="8382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0390"/>
              </a:srgbClr>
            </a:outerShdw>
          </a:effectLst>
        </p:spPr>
      </p:pic>
      <p:sp>
        <p:nvSpPr>
          <p:cNvPr id="133" name="Google Shape;133;p29"/>
          <p:cNvSpPr txBox="1"/>
          <p:nvPr/>
        </p:nvSpPr>
        <p:spPr>
          <a:xfrm>
            <a:off x="4114800" y="6597650"/>
            <a:ext cx="914400" cy="336600"/>
          </a:xfrm>
          <a:prstGeom prst="rect">
            <a:avLst/>
          </a:prstGeom>
          <a:noFill/>
          <a:ln>
            <a:noFill/>
          </a:ln>
          <a:effectLst>
            <a:outerShdw blurRad="63500" dist="17960" dir="2700000">
              <a:srgbClr val="853A55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4805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DD4805"/>
                </a:solidFill>
                <a:latin typeface="Arial"/>
                <a:ea typeface="Arial"/>
                <a:cs typeface="Arial"/>
                <a:sym typeface="Arial"/>
              </a:rPr>
              <a:t>09/2011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sldNum" idx="12"/>
          </p:nvPr>
        </p:nvSpPr>
        <p:spPr>
          <a:xfrm>
            <a:off x="7086600" y="65532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40000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6" scaled="0"/>
        </a:gra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/>
          <p:nvPr/>
        </p:nvSpPr>
        <p:spPr>
          <a:xfrm>
            <a:off x="0" y="381000"/>
            <a:ext cx="9131300" cy="914400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31" descr="DHB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1"/>
          <p:cNvSpPr/>
          <p:nvPr/>
        </p:nvSpPr>
        <p:spPr>
          <a:xfrm>
            <a:off x="0" y="6346825"/>
            <a:ext cx="9131300" cy="511175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>
            <a:off x="0" y="0"/>
            <a:ext cx="9153525" cy="1600200"/>
          </a:xfrm>
          <a:custGeom>
            <a:avLst/>
            <a:gdLst/>
            <a:ahLst/>
            <a:cxnLst/>
            <a:rect l="l" t="t" r="r" b="b"/>
            <a:pathLst>
              <a:path w="5766" h="1008" extrusionOk="0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>
            <a:off x="0" y="0"/>
            <a:ext cx="9170988" cy="1362075"/>
          </a:xfrm>
          <a:custGeom>
            <a:avLst/>
            <a:gdLst/>
            <a:ahLst/>
            <a:cxnLst/>
            <a:rect l="l" t="t" r="r" b="b"/>
            <a:pathLst>
              <a:path w="5777" h="858" extrusionOk="0">
                <a:moveTo>
                  <a:pt x="0" y="858"/>
                </a:moveTo>
                <a:lnTo>
                  <a:pt x="1926" y="857"/>
                </a:lnTo>
                <a:cubicBezTo>
                  <a:pt x="2067" y="857"/>
                  <a:pt x="2068" y="850"/>
                  <a:pt x="2157" y="793"/>
                </a:cubicBezTo>
                <a:lnTo>
                  <a:pt x="2509" y="473"/>
                </a:lnTo>
                <a:cubicBezTo>
                  <a:pt x="2644" y="406"/>
                  <a:pt x="2477" y="396"/>
                  <a:pt x="2970" y="390"/>
                </a:cubicBezTo>
                <a:lnTo>
                  <a:pt x="5773" y="388"/>
                </a:lnTo>
                <a:lnTo>
                  <a:pt x="5777" y="0"/>
                </a:lnTo>
                <a:lnTo>
                  <a:pt x="0" y="2"/>
                </a:lnTo>
                <a:lnTo>
                  <a:pt x="0" y="85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0" y="4373562"/>
            <a:ext cx="9131300" cy="1036637"/>
          </a:xfrm>
          <a:custGeom>
            <a:avLst/>
            <a:gdLst/>
            <a:ahLst/>
            <a:cxnLst/>
            <a:rect l="l" t="t" r="r" b="b"/>
            <a:pathLst>
              <a:path w="5752" h="444" extrusionOk="0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1" descr="Logo_hcmu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81900" y="0"/>
            <a:ext cx="1562100" cy="15621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0390"/>
              </a:srgbClr>
            </a:outerShdw>
          </a:effectLst>
        </p:spPr>
      </p:pic>
      <p:sp>
        <p:nvSpPr>
          <p:cNvPr id="149" name="Google Shape;149;p31"/>
          <p:cNvSpPr txBox="1"/>
          <p:nvPr/>
        </p:nvSpPr>
        <p:spPr>
          <a:xfrm>
            <a:off x="0" y="4343400"/>
            <a:ext cx="9326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Tầm nhìn-Sứ mạng-Mục tiêu-Nhiệm vụ (VMGO)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Bộ môn Điện Tử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 txBox="1"/>
          <p:nvPr/>
        </p:nvSpPr>
        <p:spPr>
          <a:xfrm>
            <a:off x="3352800" y="6096000"/>
            <a:ext cx="28956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 txBox="1"/>
          <p:nvPr/>
        </p:nvSpPr>
        <p:spPr>
          <a:xfrm>
            <a:off x="3390900" y="6453187"/>
            <a:ext cx="28956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ACB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2F6ACB"/>
                </a:solidFill>
                <a:latin typeface="Arial"/>
                <a:ea typeface="Arial"/>
                <a:cs typeface="Arial"/>
                <a:sym typeface="Arial"/>
              </a:rPr>
              <a:t>TP.Hồ Chí Minh  09/2011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 txBox="1"/>
          <p:nvPr/>
        </p:nvSpPr>
        <p:spPr>
          <a:xfrm>
            <a:off x="2971800" y="5791200"/>
            <a:ext cx="3048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Hoàng Trang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 txBox="1">
            <a:spLocks noGrp="1"/>
          </p:cNvSpPr>
          <p:nvPr>
            <p:ph type="sldNum" idx="12"/>
          </p:nvPr>
        </p:nvSpPr>
        <p:spPr>
          <a:xfrm>
            <a:off x="0" y="6610350"/>
            <a:ext cx="381000" cy="24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74E37659-5308-57AD-5E93-EB55D993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>
            <a:extLst>
              <a:ext uri="{FF2B5EF4-FFF2-40B4-BE49-F238E27FC236}">
                <a16:creationId xmlns:a16="http://schemas.microsoft.com/office/drawing/2014/main" id="{C964088E-4A12-6C35-AEBF-3CCF545FD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100" y="320912"/>
            <a:ext cx="80010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400"/>
              <a:buFont typeface="Arial"/>
              <a:buNone/>
            </a:pPr>
            <a:r>
              <a:rPr lang="en-US" sz="4400" b="1" i="0" u="none" dirty="0" err="1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Nội</a:t>
            </a:r>
            <a:r>
              <a:rPr lang="en-US" sz="4400" b="1" i="0" u="none" dirty="0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 dung</a:t>
            </a:r>
            <a:endParaRPr dirty="0"/>
          </a:p>
        </p:txBody>
      </p:sp>
      <p:sp>
        <p:nvSpPr>
          <p:cNvPr id="170" name="Google Shape;170;p2">
            <a:extLst>
              <a:ext uri="{FF2B5EF4-FFF2-40B4-BE49-F238E27FC236}">
                <a16:creationId xmlns:a16="http://schemas.microsoft.com/office/drawing/2014/main" id="{F4D99E32-6411-D42D-B4A8-B5AE91E0C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4100" y="1105625"/>
            <a:ext cx="8001000" cy="51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Giới thiệu tổng qua</a:t>
            </a:r>
            <a:r>
              <a:rPr lang="en-US"/>
              <a:t>n</a:t>
            </a:r>
            <a:endParaRPr/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Nhiệm vụ đề tài</a:t>
            </a:r>
            <a:endParaRPr/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Đặc tả hệ thống</a:t>
            </a:r>
            <a:endParaRPr/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Thiết kế phần cứng</a:t>
            </a:r>
            <a:endParaRPr/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Phát triển phần mềm</a:t>
            </a:r>
            <a:endParaRPr/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 quả hiện thực</a:t>
            </a:r>
            <a:endParaRPr/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Kết luận và hướng phát triển</a:t>
            </a:r>
            <a:endParaRPr/>
          </a:p>
          <a:p>
            <a:pPr marL="514350" marR="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>
            <a:extLst>
              <a:ext uri="{FF2B5EF4-FFF2-40B4-BE49-F238E27FC236}">
                <a16:creationId xmlns:a16="http://schemas.microsoft.com/office/drawing/2014/main" id="{D2629BE0-C277-1E26-2F7B-B73A57A3A704}"/>
              </a:ext>
            </a:extLst>
          </p:cNvPr>
          <p:cNvSpPr txBox="1"/>
          <p:nvPr/>
        </p:nvSpPr>
        <p:spPr>
          <a:xfrm>
            <a:off x="3946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>
            <a:extLst>
              <a:ext uri="{FF2B5EF4-FFF2-40B4-BE49-F238E27FC236}">
                <a16:creationId xmlns:a16="http://schemas.microsoft.com/office/drawing/2014/main" id="{7F01C028-2854-3589-9483-2B6112EF50D8}"/>
              </a:ext>
            </a:extLst>
          </p:cNvPr>
          <p:cNvSpPr txBox="1"/>
          <p:nvPr/>
        </p:nvSpPr>
        <p:spPr>
          <a:xfrm>
            <a:off x="3124200" y="59086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">
            <a:extLst>
              <a:ext uri="{FF2B5EF4-FFF2-40B4-BE49-F238E27FC236}">
                <a16:creationId xmlns:a16="http://schemas.microsoft.com/office/drawing/2014/main" id="{A74CEC8F-FD35-45DD-1D18-A112EB1CDECB}"/>
              </a:ext>
            </a:extLst>
          </p:cNvPr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9458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e61bbfb93_8_0"/>
          <p:cNvSpPr txBox="1">
            <a:spLocks noGrp="1"/>
          </p:cNvSpPr>
          <p:nvPr>
            <p:ph type="title"/>
          </p:nvPr>
        </p:nvSpPr>
        <p:spPr>
          <a:xfrm>
            <a:off x="685800" y="274638"/>
            <a:ext cx="8001000" cy="716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5e61bbfb93_8_0"/>
          <p:cNvSpPr txBox="1">
            <a:spLocks noGrp="1"/>
          </p:cNvSpPr>
          <p:nvPr>
            <p:ph type="body" idx="1"/>
          </p:nvPr>
        </p:nvSpPr>
        <p:spPr>
          <a:xfrm>
            <a:off x="685800" y="990600"/>
            <a:ext cx="8001000" cy="513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5e61bbfb93_8_0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/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5738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1. Giới thiệu tổng quan</a:t>
            </a:r>
            <a:endParaRPr/>
          </a:p>
        </p:txBody>
      </p:sp>
      <p:sp>
        <p:nvSpPr>
          <p:cNvPr id="187" name="Google Shape;187;p3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457200" y="1752600"/>
            <a:ext cx="7848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Trình bày tổng quan đề tài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Các đề tài, công trình khác liên quan, giống, gần giống luận văn này hoặc tham khảo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4953000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2. Nhiệm vụ đề tài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457200" y="1752600"/>
            <a:ext cx="60960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công việc, nhiệm vụ cần giải quyết để thực hiện hoàn thành luận văn (1 slide)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2502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3. Đặc tả hệ thống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457200" y="2057400"/>
            <a:ext cx="8382000" cy="267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 tả các đặc tính của hệ thống cần thiết kế theo nhiệm vụ luận văn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Yêu cầu thiết kế,….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Vẽ sơ đồ khối hệ thống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 giới hạn, ràng buộc của hệ thống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 tả nguyên lý hoạt động của hệ thống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2502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3. Thiết kế phần cứng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457200" y="2057400"/>
            <a:ext cx="83820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Trình bày sơ đồ khối, sơ đồ chi tiết phần cứng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Phân tích thiết kế phần cứng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Tính toán các thông số phần cứng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62690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Kết quả</a:t>
            </a:r>
            <a:endParaRPr/>
          </a:p>
        </p:txBody>
      </p:sp>
      <p:sp>
        <p:nvSpPr>
          <p:cNvPr id="215" name="Google Shape;215;p8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457200" y="1752600"/>
            <a:ext cx="8305800" cy="403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Cách thức đo đạc, thử nghiệm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Số liệu đo đạc thu được dưới hình thức bảng biểu, đồ thị 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Giải thích và bàn bạc về kết quả thu được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 các bảng biểu, đồ thị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Chú ý: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money slide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bình luận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82502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4. Phát triển phần mềm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457200" y="2057400"/>
            <a:ext cx="83820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Phân tích, giải thích sơ đồ giải thuật, phần cứng, phần mềm, …..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 txBox="1">
            <a:spLocks noGrp="1"/>
          </p:cNvSpPr>
          <p:nvPr>
            <p:ph type="title"/>
          </p:nvPr>
        </p:nvSpPr>
        <p:spPr>
          <a:xfrm>
            <a:off x="893762" y="288925"/>
            <a:ext cx="7640637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Kết luận, hướng phát triển</a:t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 txBox="1"/>
          <p:nvPr/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0" y="838200"/>
            <a:ext cx="9144000" cy="45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1905000" y="2362200"/>
            <a:ext cx="6553200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6C7"/>
              </a:buClr>
              <a:buSzPts val="9600"/>
              <a:buFont typeface="Arial"/>
              <a:buNone/>
            </a:pPr>
            <a:r>
              <a:rPr lang="en-US" sz="9600" b="1" i="0" u="none" strike="noStrike" cap="none">
                <a:solidFill>
                  <a:srgbClr val="3376C7"/>
                </a:solidFill>
                <a:latin typeface="Arial"/>
                <a:ea typeface="Arial"/>
                <a:cs typeface="Arial"/>
                <a:sym typeface="Arial"/>
              </a:rPr>
              <a:t>CẢM ƠN…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3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4_Hoang Trang'course format">
  <a:themeElements>
    <a:clrScheme name="Default Design 1">
      <a:dk1>
        <a:srgbClr val="000000"/>
      </a:dk1>
      <a:lt1>
        <a:srgbClr val="CAD4CF"/>
      </a:lt1>
      <a:dk2>
        <a:srgbClr val="425462"/>
      </a:dk2>
      <a:lt2>
        <a:srgbClr val="768A7B"/>
      </a:lt2>
      <a:accent1>
        <a:srgbClr val="DE608D"/>
      </a:accent1>
      <a:accent2>
        <a:srgbClr val="35ADE3"/>
      </a:accent2>
      <a:accent3>
        <a:srgbClr val="E1E6E4"/>
      </a:accent3>
      <a:accent4>
        <a:srgbClr val="000000"/>
      </a:accent4>
      <a:accent5>
        <a:srgbClr val="ECB6C5"/>
      </a:accent5>
      <a:accent6>
        <a:srgbClr val="2F9CCE"/>
      </a:accent6>
      <a:hlink>
        <a:srgbClr val="F6AE44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277</Words>
  <Application>Microsoft Office PowerPoint</Application>
  <PresentationFormat>On-screen Show (4:3)</PresentationFormat>
  <Paragraphs>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2_Office Theme</vt:lpstr>
      <vt:lpstr>Custom Design</vt:lpstr>
      <vt:lpstr>1_Custom Design</vt:lpstr>
      <vt:lpstr>1_Office Theme</vt:lpstr>
      <vt:lpstr>1_Hoang Trang'course format</vt:lpstr>
      <vt:lpstr>Office Theme</vt:lpstr>
      <vt:lpstr>2_Hoang Trang'course format</vt:lpstr>
      <vt:lpstr>3_Hoang Trang'course format</vt:lpstr>
      <vt:lpstr>4_Hoang Trang'course format</vt:lpstr>
      <vt:lpstr>PowerPoint Presentation</vt:lpstr>
      <vt:lpstr>Nội dung</vt:lpstr>
      <vt:lpstr>PowerPoint Presentation</vt:lpstr>
      <vt:lpstr>1. Giới thiệu tổng quan</vt:lpstr>
      <vt:lpstr>2. Nhiệm vụ đề tài</vt:lpstr>
      <vt:lpstr>3. Đặc tả hệ thống</vt:lpstr>
      <vt:lpstr>3. Thiết kế phần cứng</vt:lpstr>
      <vt:lpstr>Kết quả</vt:lpstr>
      <vt:lpstr>4. Phát triển phần mềm</vt:lpstr>
      <vt:lpstr>Kết luận, hướng phát triển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HOANG Trang</dc:creator>
  <cp:lastModifiedBy>Khanh Le</cp:lastModifiedBy>
  <cp:revision>2</cp:revision>
  <dcterms:created xsi:type="dcterms:W3CDTF">2010-08-18T20:21:10Z</dcterms:created>
  <dcterms:modified xsi:type="dcterms:W3CDTF">2026-01-27T10:03:28Z</dcterms:modified>
</cp:coreProperties>
</file>